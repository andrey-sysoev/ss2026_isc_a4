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6" r:id="rId4"/>
    <p:sldId id="277" r:id="rId5"/>
    <p:sldId id="268" r:id="rId6"/>
    <p:sldId id="270" r:id="rId7"/>
    <p:sldId id="271" r:id="rId8"/>
    <p:sldId id="272" r:id="rId9"/>
    <p:sldId id="263" r:id="rId10"/>
    <p:sldId id="267" r:id="rId11"/>
    <p:sldId id="269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A6A6"/>
    <a:srgbClr val="2AA8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6.sv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6.sv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1E8D45-AA97-4719-9C00-1FE93112C98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5BEF3C0-B18A-46AB-908A-576A51A99ADD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Attacker listens and takes control of the communication between two endpoints.</a:t>
          </a:r>
          <a:endParaRPr lang="en-US"/>
        </a:p>
      </dgm:t>
    </dgm:pt>
    <dgm:pt modelId="{C82833AA-02E9-48FB-BD33-0CEB80008A4F}" type="parTrans" cxnId="{F0A34DCF-208E-43DD-887A-E8A79DD9D525}">
      <dgm:prSet/>
      <dgm:spPr/>
      <dgm:t>
        <a:bodyPr/>
        <a:lstStyle/>
        <a:p>
          <a:endParaRPr lang="en-US"/>
        </a:p>
      </dgm:t>
    </dgm:pt>
    <dgm:pt modelId="{746249A1-B2F9-4D01-9675-49D93D3632D9}" type="sibTrans" cxnId="{F0A34DCF-208E-43DD-887A-E8A79DD9D525}">
      <dgm:prSet/>
      <dgm:spPr/>
      <dgm:t>
        <a:bodyPr/>
        <a:lstStyle/>
        <a:p>
          <a:endParaRPr lang="en-US"/>
        </a:p>
      </dgm:t>
    </dgm:pt>
    <dgm:pt modelId="{FE7C7C3C-9D3E-4404-AA26-481A4C366B5C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dirty="0"/>
            <a:t>Endpoints </a:t>
          </a:r>
          <a:r>
            <a:rPr lang="de-DE" dirty="0" err="1"/>
            <a:t>are</a:t>
          </a:r>
          <a:r>
            <a:rPr lang="de-DE" dirty="0"/>
            <a:t> </a:t>
          </a:r>
          <a:r>
            <a:rPr lang="de-DE" dirty="0" err="1"/>
            <a:t>unaware</a:t>
          </a:r>
          <a:r>
            <a:rPr lang="de-DE" dirty="0"/>
            <a:t> </a:t>
          </a:r>
          <a:r>
            <a:rPr lang="de-DE" dirty="0" err="1"/>
            <a:t>of</a:t>
          </a:r>
          <a:r>
            <a:rPr lang="de-DE" dirty="0"/>
            <a:t> </a:t>
          </a:r>
          <a:r>
            <a:rPr lang="de-DE" dirty="0" err="1"/>
            <a:t>the</a:t>
          </a:r>
          <a:r>
            <a:rPr lang="de-DE" dirty="0"/>
            <a:t> </a:t>
          </a:r>
          <a:r>
            <a:rPr lang="de-DE" dirty="0" err="1"/>
            <a:t>attacker's</a:t>
          </a:r>
          <a:r>
            <a:rPr lang="de-DE" dirty="0"/>
            <a:t> </a:t>
          </a:r>
          <a:r>
            <a:rPr lang="de-DE" dirty="0" err="1"/>
            <a:t>presence</a:t>
          </a:r>
          <a:r>
            <a:rPr lang="de-DE" dirty="0"/>
            <a:t>.</a:t>
          </a:r>
          <a:endParaRPr lang="en-US" dirty="0"/>
        </a:p>
      </dgm:t>
    </dgm:pt>
    <dgm:pt modelId="{BEC884A4-27B9-46C7-93D6-24995834C4DD}" type="parTrans" cxnId="{10B45C39-1F17-4C63-BBE7-EB34533B2BDD}">
      <dgm:prSet/>
      <dgm:spPr/>
      <dgm:t>
        <a:bodyPr/>
        <a:lstStyle/>
        <a:p>
          <a:endParaRPr lang="en-US"/>
        </a:p>
      </dgm:t>
    </dgm:pt>
    <dgm:pt modelId="{E602CF7F-B3BD-4EAE-B385-0CCD24695FA1}" type="sibTrans" cxnId="{10B45C39-1F17-4C63-BBE7-EB34533B2BDD}">
      <dgm:prSet/>
      <dgm:spPr/>
      <dgm:t>
        <a:bodyPr/>
        <a:lstStyle/>
        <a:p>
          <a:endParaRPr lang="en-US"/>
        </a:p>
      </dgm:t>
    </dgm:pt>
    <dgm:pt modelId="{82A4D36B-2951-43C2-9C4F-F72ADC61AF9E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Compromises CIA triad: Confidentiality, Integrity, Availability.</a:t>
          </a:r>
          <a:endParaRPr lang="en-US"/>
        </a:p>
      </dgm:t>
    </dgm:pt>
    <dgm:pt modelId="{06395556-6B08-4ECA-9765-3C1EEFFBB5D6}" type="parTrans" cxnId="{3F5351CD-EB94-4C5A-93DB-17F9B166E89D}">
      <dgm:prSet/>
      <dgm:spPr/>
      <dgm:t>
        <a:bodyPr/>
        <a:lstStyle/>
        <a:p>
          <a:endParaRPr lang="en-US"/>
        </a:p>
      </dgm:t>
    </dgm:pt>
    <dgm:pt modelId="{85FA148F-77B3-447A-B1E7-1EFD9B207383}" type="sibTrans" cxnId="{3F5351CD-EB94-4C5A-93DB-17F9B166E89D}">
      <dgm:prSet/>
      <dgm:spPr/>
      <dgm:t>
        <a:bodyPr/>
        <a:lstStyle/>
        <a:p>
          <a:endParaRPr lang="en-US"/>
        </a:p>
      </dgm:t>
    </dgm:pt>
    <dgm:pt modelId="{63A827C2-E6EA-4BCF-B7C8-A5967C722432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Two types: Passive and Active.</a:t>
          </a:r>
          <a:endParaRPr lang="en-US"/>
        </a:p>
      </dgm:t>
    </dgm:pt>
    <dgm:pt modelId="{69079993-E6D2-43C5-8E42-3196582F64CD}" type="parTrans" cxnId="{C5611576-DCFC-4E59-B032-60563C6B7C4E}">
      <dgm:prSet/>
      <dgm:spPr/>
      <dgm:t>
        <a:bodyPr/>
        <a:lstStyle/>
        <a:p>
          <a:endParaRPr lang="en-US"/>
        </a:p>
      </dgm:t>
    </dgm:pt>
    <dgm:pt modelId="{EA356BBC-4C70-4670-B608-6A3CB81CE979}" type="sibTrans" cxnId="{C5611576-DCFC-4E59-B032-60563C6B7C4E}">
      <dgm:prSet/>
      <dgm:spPr/>
      <dgm:t>
        <a:bodyPr/>
        <a:lstStyle/>
        <a:p>
          <a:endParaRPr lang="en-US"/>
        </a:p>
      </dgm:t>
    </dgm:pt>
    <dgm:pt modelId="{784855C5-3421-470D-BD89-330EE902C9B5}" type="pres">
      <dgm:prSet presAssocID="{531E8D45-AA97-4719-9C00-1FE93112C985}" presName="root" presStyleCnt="0">
        <dgm:presLayoutVars>
          <dgm:dir/>
          <dgm:resizeHandles val="exact"/>
        </dgm:presLayoutVars>
      </dgm:prSet>
      <dgm:spPr/>
    </dgm:pt>
    <dgm:pt modelId="{EE22A86C-87C0-4490-9B14-FF1623F00F83}" type="pres">
      <dgm:prSet presAssocID="{A5BEF3C0-B18A-46AB-908A-576A51A99ADD}" presName="compNode" presStyleCnt="0"/>
      <dgm:spPr/>
    </dgm:pt>
    <dgm:pt modelId="{ACC94F2B-5A51-4299-9D0E-7F919438CABE}" type="pres">
      <dgm:prSet presAssocID="{A5BEF3C0-B18A-46AB-908A-576A51A99ADD}" presName="bgRect" presStyleLbl="bgShp" presStyleIdx="0" presStyleCnt="4"/>
      <dgm:spPr/>
    </dgm:pt>
    <dgm:pt modelId="{FD81033E-927B-4898-BC21-AB47525277D2}" type="pres">
      <dgm:prSet presAssocID="{A5BEF3C0-B18A-46AB-908A-576A51A99AD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D872C7C2-54C4-48CB-9F31-17A44DA4EB8C}" type="pres">
      <dgm:prSet presAssocID="{A5BEF3C0-B18A-46AB-908A-576A51A99ADD}" presName="spaceRect" presStyleCnt="0"/>
      <dgm:spPr/>
    </dgm:pt>
    <dgm:pt modelId="{B47B4CB2-CBCF-4A02-965D-E4552DB2EA30}" type="pres">
      <dgm:prSet presAssocID="{A5BEF3C0-B18A-46AB-908A-576A51A99ADD}" presName="parTx" presStyleLbl="revTx" presStyleIdx="0" presStyleCnt="4">
        <dgm:presLayoutVars>
          <dgm:chMax val="0"/>
          <dgm:chPref val="0"/>
        </dgm:presLayoutVars>
      </dgm:prSet>
      <dgm:spPr/>
    </dgm:pt>
    <dgm:pt modelId="{06555ADB-866D-4201-9457-7073401B82C1}" type="pres">
      <dgm:prSet presAssocID="{746249A1-B2F9-4D01-9675-49D93D3632D9}" presName="sibTrans" presStyleCnt="0"/>
      <dgm:spPr/>
    </dgm:pt>
    <dgm:pt modelId="{89418177-7AF3-49B1-88EB-4583B708F5FF}" type="pres">
      <dgm:prSet presAssocID="{FE7C7C3C-9D3E-4404-AA26-481A4C366B5C}" presName="compNode" presStyleCnt="0"/>
      <dgm:spPr/>
    </dgm:pt>
    <dgm:pt modelId="{58A41CB0-26EA-412B-A0CA-68AD8B28C3DB}" type="pres">
      <dgm:prSet presAssocID="{FE7C7C3C-9D3E-4404-AA26-481A4C366B5C}" presName="bgRect" presStyleLbl="bgShp" presStyleIdx="1" presStyleCnt="4"/>
      <dgm:spPr/>
    </dgm:pt>
    <dgm:pt modelId="{E88CEBDE-CBCB-4F67-9E66-83CA431BC464}" type="pres">
      <dgm:prSet presAssocID="{FE7C7C3C-9D3E-4404-AA26-481A4C366B5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C1283096-0CD0-49A9-ABE7-C8064713A3DE}" type="pres">
      <dgm:prSet presAssocID="{FE7C7C3C-9D3E-4404-AA26-481A4C366B5C}" presName="spaceRect" presStyleCnt="0"/>
      <dgm:spPr/>
    </dgm:pt>
    <dgm:pt modelId="{38BE6507-2DCA-46D1-8709-6A689DD90EC0}" type="pres">
      <dgm:prSet presAssocID="{FE7C7C3C-9D3E-4404-AA26-481A4C366B5C}" presName="parTx" presStyleLbl="revTx" presStyleIdx="1" presStyleCnt="4">
        <dgm:presLayoutVars>
          <dgm:chMax val="0"/>
          <dgm:chPref val="0"/>
        </dgm:presLayoutVars>
      </dgm:prSet>
      <dgm:spPr/>
    </dgm:pt>
    <dgm:pt modelId="{2A6EE46A-6305-41A6-AF57-8EEBDB2BE93B}" type="pres">
      <dgm:prSet presAssocID="{E602CF7F-B3BD-4EAE-B385-0CCD24695FA1}" presName="sibTrans" presStyleCnt="0"/>
      <dgm:spPr/>
    </dgm:pt>
    <dgm:pt modelId="{5EB5DB72-76D6-489B-B27A-0622D40588E2}" type="pres">
      <dgm:prSet presAssocID="{82A4D36B-2951-43C2-9C4F-F72ADC61AF9E}" presName="compNode" presStyleCnt="0"/>
      <dgm:spPr/>
    </dgm:pt>
    <dgm:pt modelId="{8F79263E-BEA1-4FE8-8832-AEA21FB7077E}" type="pres">
      <dgm:prSet presAssocID="{82A4D36B-2951-43C2-9C4F-F72ADC61AF9E}" presName="bgRect" presStyleLbl="bgShp" presStyleIdx="2" presStyleCnt="4"/>
      <dgm:spPr/>
    </dgm:pt>
    <dgm:pt modelId="{B959C52D-F587-4388-831D-DCEFCD4D2657}" type="pres">
      <dgm:prSet presAssocID="{82A4D36B-2951-43C2-9C4F-F72ADC61AF9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BB8B4B3A-357D-4BFC-B7B1-F3CD5148857C}" type="pres">
      <dgm:prSet presAssocID="{82A4D36B-2951-43C2-9C4F-F72ADC61AF9E}" presName="spaceRect" presStyleCnt="0"/>
      <dgm:spPr/>
    </dgm:pt>
    <dgm:pt modelId="{1F676CC2-07F2-440E-9F54-CCB7D7EF2A5C}" type="pres">
      <dgm:prSet presAssocID="{82A4D36B-2951-43C2-9C4F-F72ADC61AF9E}" presName="parTx" presStyleLbl="revTx" presStyleIdx="2" presStyleCnt="4">
        <dgm:presLayoutVars>
          <dgm:chMax val="0"/>
          <dgm:chPref val="0"/>
        </dgm:presLayoutVars>
      </dgm:prSet>
      <dgm:spPr/>
    </dgm:pt>
    <dgm:pt modelId="{5329ADE5-2F85-4FBD-9242-A3B26E164C6B}" type="pres">
      <dgm:prSet presAssocID="{85FA148F-77B3-447A-B1E7-1EFD9B207383}" presName="sibTrans" presStyleCnt="0"/>
      <dgm:spPr/>
    </dgm:pt>
    <dgm:pt modelId="{874BAF0B-CF10-4D00-BCD7-4A704F6D222D}" type="pres">
      <dgm:prSet presAssocID="{63A827C2-E6EA-4BCF-B7C8-A5967C722432}" presName="compNode" presStyleCnt="0"/>
      <dgm:spPr/>
    </dgm:pt>
    <dgm:pt modelId="{DD265DC6-5886-42C3-A52C-EF978E95E5CA}" type="pres">
      <dgm:prSet presAssocID="{63A827C2-E6EA-4BCF-B7C8-A5967C722432}" presName="bgRect" presStyleLbl="bgShp" presStyleIdx="3" presStyleCnt="4"/>
      <dgm:spPr/>
    </dgm:pt>
    <dgm:pt modelId="{297D1606-D16A-49F5-B64B-661506E6A9DC}" type="pres">
      <dgm:prSet presAssocID="{63A827C2-E6EA-4BCF-B7C8-A5967C72243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seball bat and ball"/>
        </a:ext>
      </dgm:extLst>
    </dgm:pt>
    <dgm:pt modelId="{20410C6B-3487-4006-B40B-9E09444B5C0D}" type="pres">
      <dgm:prSet presAssocID="{63A827C2-E6EA-4BCF-B7C8-A5967C722432}" presName="spaceRect" presStyleCnt="0"/>
      <dgm:spPr/>
    </dgm:pt>
    <dgm:pt modelId="{3D9FA3FB-2DE9-4A33-BB27-AEC21E041D82}" type="pres">
      <dgm:prSet presAssocID="{63A827C2-E6EA-4BCF-B7C8-A5967C72243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0B45C39-1F17-4C63-BBE7-EB34533B2BDD}" srcId="{531E8D45-AA97-4719-9C00-1FE93112C985}" destId="{FE7C7C3C-9D3E-4404-AA26-481A4C366B5C}" srcOrd="1" destOrd="0" parTransId="{BEC884A4-27B9-46C7-93D6-24995834C4DD}" sibTransId="{E602CF7F-B3BD-4EAE-B385-0CCD24695FA1}"/>
    <dgm:cxn modelId="{990C5843-303D-4A14-BBFF-62046ED54755}" type="presOf" srcId="{FE7C7C3C-9D3E-4404-AA26-481A4C366B5C}" destId="{38BE6507-2DCA-46D1-8709-6A689DD90EC0}" srcOrd="0" destOrd="0" presId="urn:microsoft.com/office/officeart/2018/2/layout/IconVerticalSolidList"/>
    <dgm:cxn modelId="{C5611576-DCFC-4E59-B032-60563C6B7C4E}" srcId="{531E8D45-AA97-4719-9C00-1FE93112C985}" destId="{63A827C2-E6EA-4BCF-B7C8-A5967C722432}" srcOrd="3" destOrd="0" parTransId="{69079993-E6D2-43C5-8E42-3196582F64CD}" sibTransId="{EA356BBC-4C70-4670-B608-6A3CB81CE979}"/>
    <dgm:cxn modelId="{C0617878-F7CE-474D-AF21-B84569824A21}" type="presOf" srcId="{A5BEF3C0-B18A-46AB-908A-576A51A99ADD}" destId="{B47B4CB2-CBCF-4A02-965D-E4552DB2EA30}" srcOrd="0" destOrd="0" presId="urn:microsoft.com/office/officeart/2018/2/layout/IconVerticalSolidList"/>
    <dgm:cxn modelId="{0D6CE083-4F7A-4346-8E0D-B345E73ABE65}" type="presOf" srcId="{531E8D45-AA97-4719-9C00-1FE93112C985}" destId="{784855C5-3421-470D-BD89-330EE902C9B5}" srcOrd="0" destOrd="0" presId="urn:microsoft.com/office/officeart/2018/2/layout/IconVerticalSolidList"/>
    <dgm:cxn modelId="{3E2E80A9-019A-4183-A3EF-FDEB52F28145}" type="presOf" srcId="{82A4D36B-2951-43C2-9C4F-F72ADC61AF9E}" destId="{1F676CC2-07F2-440E-9F54-CCB7D7EF2A5C}" srcOrd="0" destOrd="0" presId="urn:microsoft.com/office/officeart/2018/2/layout/IconVerticalSolidList"/>
    <dgm:cxn modelId="{3F5351CD-EB94-4C5A-93DB-17F9B166E89D}" srcId="{531E8D45-AA97-4719-9C00-1FE93112C985}" destId="{82A4D36B-2951-43C2-9C4F-F72ADC61AF9E}" srcOrd="2" destOrd="0" parTransId="{06395556-6B08-4ECA-9765-3C1EEFFBB5D6}" sibTransId="{85FA148F-77B3-447A-B1E7-1EFD9B207383}"/>
    <dgm:cxn modelId="{F0A34DCF-208E-43DD-887A-E8A79DD9D525}" srcId="{531E8D45-AA97-4719-9C00-1FE93112C985}" destId="{A5BEF3C0-B18A-46AB-908A-576A51A99ADD}" srcOrd="0" destOrd="0" parTransId="{C82833AA-02E9-48FB-BD33-0CEB80008A4F}" sibTransId="{746249A1-B2F9-4D01-9675-49D93D3632D9}"/>
    <dgm:cxn modelId="{1404F1E1-AC97-410F-B9C8-6F63196C5C7C}" type="presOf" srcId="{63A827C2-E6EA-4BCF-B7C8-A5967C722432}" destId="{3D9FA3FB-2DE9-4A33-BB27-AEC21E041D82}" srcOrd="0" destOrd="0" presId="urn:microsoft.com/office/officeart/2018/2/layout/IconVerticalSolidList"/>
    <dgm:cxn modelId="{59162537-3EF6-47C1-9CF9-91A7074DB6DD}" type="presParOf" srcId="{784855C5-3421-470D-BD89-330EE902C9B5}" destId="{EE22A86C-87C0-4490-9B14-FF1623F00F83}" srcOrd="0" destOrd="0" presId="urn:microsoft.com/office/officeart/2018/2/layout/IconVerticalSolidList"/>
    <dgm:cxn modelId="{352933BE-07FF-4B82-AC9B-8330DFFFED37}" type="presParOf" srcId="{EE22A86C-87C0-4490-9B14-FF1623F00F83}" destId="{ACC94F2B-5A51-4299-9D0E-7F919438CABE}" srcOrd="0" destOrd="0" presId="urn:microsoft.com/office/officeart/2018/2/layout/IconVerticalSolidList"/>
    <dgm:cxn modelId="{DF3F39DE-DF83-4260-94EA-7DAF01D96B7C}" type="presParOf" srcId="{EE22A86C-87C0-4490-9B14-FF1623F00F83}" destId="{FD81033E-927B-4898-BC21-AB47525277D2}" srcOrd="1" destOrd="0" presId="urn:microsoft.com/office/officeart/2018/2/layout/IconVerticalSolidList"/>
    <dgm:cxn modelId="{8AD237EB-1EFC-466C-A314-668444DABC35}" type="presParOf" srcId="{EE22A86C-87C0-4490-9B14-FF1623F00F83}" destId="{D872C7C2-54C4-48CB-9F31-17A44DA4EB8C}" srcOrd="2" destOrd="0" presId="urn:microsoft.com/office/officeart/2018/2/layout/IconVerticalSolidList"/>
    <dgm:cxn modelId="{03313466-ADA6-4681-B808-4AF219A1B0DD}" type="presParOf" srcId="{EE22A86C-87C0-4490-9B14-FF1623F00F83}" destId="{B47B4CB2-CBCF-4A02-965D-E4552DB2EA30}" srcOrd="3" destOrd="0" presId="urn:microsoft.com/office/officeart/2018/2/layout/IconVerticalSolidList"/>
    <dgm:cxn modelId="{E1853E51-058A-4129-901E-B8CE1C457131}" type="presParOf" srcId="{784855C5-3421-470D-BD89-330EE902C9B5}" destId="{06555ADB-866D-4201-9457-7073401B82C1}" srcOrd="1" destOrd="0" presId="urn:microsoft.com/office/officeart/2018/2/layout/IconVerticalSolidList"/>
    <dgm:cxn modelId="{1B992333-AD0C-4889-AA53-160A34E4BED2}" type="presParOf" srcId="{784855C5-3421-470D-BD89-330EE902C9B5}" destId="{89418177-7AF3-49B1-88EB-4583B708F5FF}" srcOrd="2" destOrd="0" presId="urn:microsoft.com/office/officeart/2018/2/layout/IconVerticalSolidList"/>
    <dgm:cxn modelId="{CBE34BCF-B004-48E0-A776-869E5E181A02}" type="presParOf" srcId="{89418177-7AF3-49B1-88EB-4583B708F5FF}" destId="{58A41CB0-26EA-412B-A0CA-68AD8B28C3DB}" srcOrd="0" destOrd="0" presId="urn:microsoft.com/office/officeart/2018/2/layout/IconVerticalSolidList"/>
    <dgm:cxn modelId="{3EFBD167-E927-4084-9F67-B72F3EF94FA5}" type="presParOf" srcId="{89418177-7AF3-49B1-88EB-4583B708F5FF}" destId="{E88CEBDE-CBCB-4F67-9E66-83CA431BC464}" srcOrd="1" destOrd="0" presId="urn:microsoft.com/office/officeart/2018/2/layout/IconVerticalSolidList"/>
    <dgm:cxn modelId="{21926CFD-952A-4FAB-9F44-26FFA56D572E}" type="presParOf" srcId="{89418177-7AF3-49B1-88EB-4583B708F5FF}" destId="{C1283096-0CD0-49A9-ABE7-C8064713A3DE}" srcOrd="2" destOrd="0" presId="urn:microsoft.com/office/officeart/2018/2/layout/IconVerticalSolidList"/>
    <dgm:cxn modelId="{E5CD5D97-080F-4D0F-886C-24751418EE1C}" type="presParOf" srcId="{89418177-7AF3-49B1-88EB-4583B708F5FF}" destId="{38BE6507-2DCA-46D1-8709-6A689DD90EC0}" srcOrd="3" destOrd="0" presId="urn:microsoft.com/office/officeart/2018/2/layout/IconVerticalSolidList"/>
    <dgm:cxn modelId="{BF5D2988-26C3-4FF5-923F-6DF7D22EE004}" type="presParOf" srcId="{784855C5-3421-470D-BD89-330EE902C9B5}" destId="{2A6EE46A-6305-41A6-AF57-8EEBDB2BE93B}" srcOrd="3" destOrd="0" presId="urn:microsoft.com/office/officeart/2018/2/layout/IconVerticalSolidList"/>
    <dgm:cxn modelId="{EDE9FCAF-0156-4DEC-AFED-27A5A0490AB5}" type="presParOf" srcId="{784855C5-3421-470D-BD89-330EE902C9B5}" destId="{5EB5DB72-76D6-489B-B27A-0622D40588E2}" srcOrd="4" destOrd="0" presId="urn:microsoft.com/office/officeart/2018/2/layout/IconVerticalSolidList"/>
    <dgm:cxn modelId="{8E6C33CD-EB53-4EB5-8E73-75F252086B3A}" type="presParOf" srcId="{5EB5DB72-76D6-489B-B27A-0622D40588E2}" destId="{8F79263E-BEA1-4FE8-8832-AEA21FB7077E}" srcOrd="0" destOrd="0" presId="urn:microsoft.com/office/officeart/2018/2/layout/IconVerticalSolidList"/>
    <dgm:cxn modelId="{CC6A4B5F-D08D-44B2-BF97-1FFBAFE68871}" type="presParOf" srcId="{5EB5DB72-76D6-489B-B27A-0622D40588E2}" destId="{B959C52D-F587-4388-831D-DCEFCD4D2657}" srcOrd="1" destOrd="0" presId="urn:microsoft.com/office/officeart/2018/2/layout/IconVerticalSolidList"/>
    <dgm:cxn modelId="{EA5696F2-7241-4157-9986-8E4853F4EF2C}" type="presParOf" srcId="{5EB5DB72-76D6-489B-B27A-0622D40588E2}" destId="{BB8B4B3A-357D-4BFC-B7B1-F3CD5148857C}" srcOrd="2" destOrd="0" presId="urn:microsoft.com/office/officeart/2018/2/layout/IconVerticalSolidList"/>
    <dgm:cxn modelId="{9BDD9F2C-E2ED-4A68-BFEB-7ADEFC356085}" type="presParOf" srcId="{5EB5DB72-76D6-489B-B27A-0622D40588E2}" destId="{1F676CC2-07F2-440E-9F54-CCB7D7EF2A5C}" srcOrd="3" destOrd="0" presId="urn:microsoft.com/office/officeart/2018/2/layout/IconVerticalSolidList"/>
    <dgm:cxn modelId="{18F74704-8DFC-4CEA-95C0-E5C3718D12B1}" type="presParOf" srcId="{784855C5-3421-470D-BD89-330EE902C9B5}" destId="{5329ADE5-2F85-4FBD-9242-A3B26E164C6B}" srcOrd="5" destOrd="0" presId="urn:microsoft.com/office/officeart/2018/2/layout/IconVerticalSolidList"/>
    <dgm:cxn modelId="{26A1CCBA-AB0F-4E66-B8CB-8AB7254E5B67}" type="presParOf" srcId="{784855C5-3421-470D-BD89-330EE902C9B5}" destId="{874BAF0B-CF10-4D00-BCD7-4A704F6D222D}" srcOrd="6" destOrd="0" presId="urn:microsoft.com/office/officeart/2018/2/layout/IconVerticalSolidList"/>
    <dgm:cxn modelId="{12CB214D-6EBC-4F25-B745-4746E406A0F0}" type="presParOf" srcId="{874BAF0B-CF10-4D00-BCD7-4A704F6D222D}" destId="{DD265DC6-5886-42C3-A52C-EF978E95E5CA}" srcOrd="0" destOrd="0" presId="urn:microsoft.com/office/officeart/2018/2/layout/IconVerticalSolidList"/>
    <dgm:cxn modelId="{9E9565F1-24D2-4280-BA12-EFA1A3A00B55}" type="presParOf" srcId="{874BAF0B-CF10-4D00-BCD7-4A704F6D222D}" destId="{297D1606-D16A-49F5-B64B-661506E6A9DC}" srcOrd="1" destOrd="0" presId="urn:microsoft.com/office/officeart/2018/2/layout/IconVerticalSolidList"/>
    <dgm:cxn modelId="{E1F8CAED-8AD6-4329-BAA8-0A0BCA7376EE}" type="presParOf" srcId="{874BAF0B-CF10-4D00-BCD7-4A704F6D222D}" destId="{20410C6B-3487-4006-B40B-9E09444B5C0D}" srcOrd="2" destOrd="0" presId="urn:microsoft.com/office/officeart/2018/2/layout/IconVerticalSolidList"/>
    <dgm:cxn modelId="{5B4AE8CB-34F4-4784-8BAB-3D799192447F}" type="presParOf" srcId="{874BAF0B-CF10-4D00-BCD7-4A704F6D222D}" destId="{3D9FA3FB-2DE9-4A33-BB27-AEC21E041D8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A22B19-1A65-4EE2-BD79-11E0B04CF0D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3AA1AFE-680B-42B0-927F-9B3A4C23E98E}">
      <dgm:prSet/>
      <dgm:spPr/>
      <dgm:t>
        <a:bodyPr/>
        <a:lstStyle/>
        <a:p>
          <a:r>
            <a:rPr lang="de-DE"/>
            <a:t>Divides the network into smaller isolated segments.</a:t>
          </a:r>
          <a:endParaRPr lang="en-US"/>
        </a:p>
      </dgm:t>
    </dgm:pt>
    <dgm:pt modelId="{653B7773-AE10-4CCF-9734-809B3EE41182}" type="parTrans" cxnId="{45C00C56-B71D-4C69-9D37-19BD71263CAA}">
      <dgm:prSet/>
      <dgm:spPr/>
      <dgm:t>
        <a:bodyPr/>
        <a:lstStyle/>
        <a:p>
          <a:endParaRPr lang="en-US"/>
        </a:p>
      </dgm:t>
    </dgm:pt>
    <dgm:pt modelId="{9242A2A5-BA07-4A79-9643-799D96890D85}" type="sibTrans" cxnId="{45C00C56-B71D-4C69-9D37-19BD71263CAA}">
      <dgm:prSet/>
      <dgm:spPr/>
      <dgm:t>
        <a:bodyPr/>
        <a:lstStyle/>
        <a:p>
          <a:endParaRPr lang="en-US"/>
        </a:p>
      </dgm:t>
    </dgm:pt>
    <dgm:pt modelId="{8EB5D523-033D-4905-B9A0-F77342A0491D}">
      <dgm:prSet/>
      <dgm:spPr/>
      <dgm:t>
        <a:bodyPr/>
        <a:lstStyle/>
        <a:p>
          <a:r>
            <a:rPr lang="de-DE"/>
            <a:t>Core principle: limits attacker's lateral movement.</a:t>
          </a:r>
          <a:endParaRPr lang="en-US"/>
        </a:p>
      </dgm:t>
    </dgm:pt>
    <dgm:pt modelId="{7D89F231-0F95-4D22-AAC5-880A80C548AE}" type="parTrans" cxnId="{3ED616D9-4D4B-4EA5-9B27-84959D5A885E}">
      <dgm:prSet/>
      <dgm:spPr/>
      <dgm:t>
        <a:bodyPr/>
        <a:lstStyle/>
        <a:p>
          <a:endParaRPr lang="en-US"/>
        </a:p>
      </dgm:t>
    </dgm:pt>
    <dgm:pt modelId="{15A15016-6255-4F90-BC1F-61FD40284FC3}" type="sibTrans" cxnId="{3ED616D9-4D4B-4EA5-9B27-84959D5A885E}">
      <dgm:prSet/>
      <dgm:spPr/>
      <dgm:t>
        <a:bodyPr/>
        <a:lstStyle/>
        <a:p>
          <a:endParaRPr lang="en-US"/>
        </a:p>
      </dgm:t>
    </dgm:pt>
    <dgm:pt modelId="{0CA27B19-2D4E-4A14-A3A9-4018C941407A}">
      <dgm:prSet/>
      <dgm:spPr/>
      <dgm:t>
        <a:bodyPr/>
        <a:lstStyle/>
        <a:p>
          <a:r>
            <a:rPr lang="de-DE"/>
            <a:t>Micro-segmentation isolates individual devices.</a:t>
          </a:r>
          <a:endParaRPr lang="en-US"/>
        </a:p>
      </dgm:t>
    </dgm:pt>
    <dgm:pt modelId="{570A63B0-A7B6-4AA3-A104-8E3A18514713}" type="parTrans" cxnId="{6D2B6186-F474-4689-A5E7-14F6D8C3857B}">
      <dgm:prSet/>
      <dgm:spPr/>
      <dgm:t>
        <a:bodyPr/>
        <a:lstStyle/>
        <a:p>
          <a:endParaRPr lang="en-US"/>
        </a:p>
      </dgm:t>
    </dgm:pt>
    <dgm:pt modelId="{3746F231-32D0-47C1-A6DE-DE6AF32A5B12}" type="sibTrans" cxnId="{6D2B6186-F474-4689-A5E7-14F6D8C3857B}">
      <dgm:prSet/>
      <dgm:spPr/>
      <dgm:t>
        <a:bodyPr/>
        <a:lstStyle/>
        <a:p>
          <a:endParaRPr lang="en-US"/>
        </a:p>
      </dgm:t>
    </dgm:pt>
    <dgm:pt modelId="{474F0513-F23F-422C-BBE7-B19EDE882CF7}">
      <dgm:prSet/>
      <dgm:spPr/>
      <dgm:t>
        <a:bodyPr/>
        <a:lstStyle/>
        <a:p>
          <a:r>
            <a:rPr lang="de-DE"/>
            <a:t>Zero-trust micro-segmentation reduced network exposure by up to 90%.</a:t>
          </a:r>
          <a:endParaRPr lang="en-US"/>
        </a:p>
      </dgm:t>
    </dgm:pt>
    <dgm:pt modelId="{42548EF6-AC21-40E9-BBD2-3C276E24D8F0}" type="parTrans" cxnId="{263D5C7A-321F-4DC4-A843-36BA000ADF87}">
      <dgm:prSet/>
      <dgm:spPr/>
      <dgm:t>
        <a:bodyPr/>
        <a:lstStyle/>
        <a:p>
          <a:endParaRPr lang="en-US"/>
        </a:p>
      </dgm:t>
    </dgm:pt>
    <dgm:pt modelId="{9F33B195-8DA6-43AA-A213-E27787114072}" type="sibTrans" cxnId="{263D5C7A-321F-4DC4-A843-36BA000ADF87}">
      <dgm:prSet/>
      <dgm:spPr/>
      <dgm:t>
        <a:bodyPr/>
        <a:lstStyle/>
        <a:p>
          <a:endParaRPr lang="en-US"/>
        </a:p>
      </dgm:t>
    </dgm:pt>
    <dgm:pt modelId="{564EE670-6FEB-4955-B856-559A17E8B54F}" type="pres">
      <dgm:prSet presAssocID="{81A22B19-1A65-4EE2-BD79-11E0B04CF0D7}" presName="linear" presStyleCnt="0">
        <dgm:presLayoutVars>
          <dgm:animLvl val="lvl"/>
          <dgm:resizeHandles val="exact"/>
        </dgm:presLayoutVars>
      </dgm:prSet>
      <dgm:spPr/>
    </dgm:pt>
    <dgm:pt modelId="{6FC81E73-565D-4D41-8271-A9B080300D0D}" type="pres">
      <dgm:prSet presAssocID="{03AA1AFE-680B-42B0-927F-9B3A4C23E98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8A7735A-DC8B-41BB-B29E-30C59B987854}" type="pres">
      <dgm:prSet presAssocID="{9242A2A5-BA07-4A79-9643-799D96890D85}" presName="spacer" presStyleCnt="0"/>
      <dgm:spPr/>
    </dgm:pt>
    <dgm:pt modelId="{0135A122-2776-4A1F-ABF6-14ADA117CBA2}" type="pres">
      <dgm:prSet presAssocID="{8EB5D523-033D-4905-B9A0-F77342A0491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DA82AE4-2797-424B-8818-ED504E92936E}" type="pres">
      <dgm:prSet presAssocID="{15A15016-6255-4F90-BC1F-61FD40284FC3}" presName="spacer" presStyleCnt="0"/>
      <dgm:spPr/>
    </dgm:pt>
    <dgm:pt modelId="{C3FF047B-6425-403A-A7DC-21D335B5349E}" type="pres">
      <dgm:prSet presAssocID="{0CA27B19-2D4E-4A14-A3A9-4018C941407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292C88F-EEFC-48EB-B2C3-EF178994AADD}" type="pres">
      <dgm:prSet presAssocID="{3746F231-32D0-47C1-A6DE-DE6AF32A5B12}" presName="spacer" presStyleCnt="0"/>
      <dgm:spPr/>
    </dgm:pt>
    <dgm:pt modelId="{92A84CCF-D765-4E22-9B08-6E06FEB83FFD}" type="pres">
      <dgm:prSet presAssocID="{474F0513-F23F-422C-BBE7-B19EDE882CF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B134A14-95F2-4D1B-8838-11239005555C}" type="presOf" srcId="{0CA27B19-2D4E-4A14-A3A9-4018C941407A}" destId="{C3FF047B-6425-403A-A7DC-21D335B5349E}" srcOrd="0" destOrd="0" presId="urn:microsoft.com/office/officeart/2005/8/layout/vList2"/>
    <dgm:cxn modelId="{612DD122-FD16-4609-BFAD-9344A7F4BB5E}" type="presOf" srcId="{474F0513-F23F-422C-BBE7-B19EDE882CF7}" destId="{92A84CCF-D765-4E22-9B08-6E06FEB83FFD}" srcOrd="0" destOrd="0" presId="urn:microsoft.com/office/officeart/2005/8/layout/vList2"/>
    <dgm:cxn modelId="{45C00C56-B71D-4C69-9D37-19BD71263CAA}" srcId="{81A22B19-1A65-4EE2-BD79-11E0B04CF0D7}" destId="{03AA1AFE-680B-42B0-927F-9B3A4C23E98E}" srcOrd="0" destOrd="0" parTransId="{653B7773-AE10-4CCF-9734-809B3EE41182}" sibTransId="{9242A2A5-BA07-4A79-9643-799D96890D85}"/>
    <dgm:cxn modelId="{263D5C7A-321F-4DC4-A843-36BA000ADF87}" srcId="{81A22B19-1A65-4EE2-BD79-11E0B04CF0D7}" destId="{474F0513-F23F-422C-BBE7-B19EDE882CF7}" srcOrd="3" destOrd="0" parTransId="{42548EF6-AC21-40E9-BBD2-3C276E24D8F0}" sibTransId="{9F33B195-8DA6-43AA-A213-E27787114072}"/>
    <dgm:cxn modelId="{6D2B6186-F474-4689-A5E7-14F6D8C3857B}" srcId="{81A22B19-1A65-4EE2-BD79-11E0B04CF0D7}" destId="{0CA27B19-2D4E-4A14-A3A9-4018C941407A}" srcOrd="2" destOrd="0" parTransId="{570A63B0-A7B6-4AA3-A104-8E3A18514713}" sibTransId="{3746F231-32D0-47C1-A6DE-DE6AF32A5B12}"/>
    <dgm:cxn modelId="{CC86EDC9-5A32-46F4-8F98-DC052A486CDE}" type="presOf" srcId="{81A22B19-1A65-4EE2-BD79-11E0B04CF0D7}" destId="{564EE670-6FEB-4955-B856-559A17E8B54F}" srcOrd="0" destOrd="0" presId="urn:microsoft.com/office/officeart/2005/8/layout/vList2"/>
    <dgm:cxn modelId="{E99964D1-81C5-4291-AE71-762EC10E02A7}" type="presOf" srcId="{03AA1AFE-680B-42B0-927F-9B3A4C23E98E}" destId="{6FC81E73-565D-4D41-8271-A9B080300D0D}" srcOrd="0" destOrd="0" presId="urn:microsoft.com/office/officeart/2005/8/layout/vList2"/>
    <dgm:cxn modelId="{39E726D2-B112-40FB-8EA8-BADE68D497D6}" type="presOf" srcId="{8EB5D523-033D-4905-B9A0-F77342A0491D}" destId="{0135A122-2776-4A1F-ABF6-14ADA117CBA2}" srcOrd="0" destOrd="0" presId="urn:microsoft.com/office/officeart/2005/8/layout/vList2"/>
    <dgm:cxn modelId="{3ED616D9-4D4B-4EA5-9B27-84959D5A885E}" srcId="{81A22B19-1A65-4EE2-BD79-11E0B04CF0D7}" destId="{8EB5D523-033D-4905-B9A0-F77342A0491D}" srcOrd="1" destOrd="0" parTransId="{7D89F231-0F95-4D22-AAC5-880A80C548AE}" sibTransId="{15A15016-6255-4F90-BC1F-61FD40284FC3}"/>
    <dgm:cxn modelId="{3DEFF11F-A67D-48D2-B3DA-D30E3F038249}" type="presParOf" srcId="{564EE670-6FEB-4955-B856-559A17E8B54F}" destId="{6FC81E73-565D-4D41-8271-A9B080300D0D}" srcOrd="0" destOrd="0" presId="urn:microsoft.com/office/officeart/2005/8/layout/vList2"/>
    <dgm:cxn modelId="{3FE4A310-C1D4-4985-8961-622E94635654}" type="presParOf" srcId="{564EE670-6FEB-4955-B856-559A17E8B54F}" destId="{38A7735A-DC8B-41BB-B29E-30C59B987854}" srcOrd="1" destOrd="0" presId="urn:microsoft.com/office/officeart/2005/8/layout/vList2"/>
    <dgm:cxn modelId="{6171B484-0B0A-4525-A3CC-BEED38742CDA}" type="presParOf" srcId="{564EE670-6FEB-4955-B856-559A17E8B54F}" destId="{0135A122-2776-4A1F-ABF6-14ADA117CBA2}" srcOrd="2" destOrd="0" presId="urn:microsoft.com/office/officeart/2005/8/layout/vList2"/>
    <dgm:cxn modelId="{56AF87BD-B7DF-4C0A-A9E7-F6FA1BB18DA7}" type="presParOf" srcId="{564EE670-6FEB-4955-B856-559A17E8B54F}" destId="{DDA82AE4-2797-424B-8818-ED504E92936E}" srcOrd="3" destOrd="0" presId="urn:microsoft.com/office/officeart/2005/8/layout/vList2"/>
    <dgm:cxn modelId="{B66FD276-3177-4E16-B435-6306D3D65DED}" type="presParOf" srcId="{564EE670-6FEB-4955-B856-559A17E8B54F}" destId="{C3FF047B-6425-403A-A7DC-21D335B5349E}" srcOrd="4" destOrd="0" presId="urn:microsoft.com/office/officeart/2005/8/layout/vList2"/>
    <dgm:cxn modelId="{FC9AEE66-4732-4D4D-82DB-A88BB3A62D8F}" type="presParOf" srcId="{564EE670-6FEB-4955-B856-559A17E8B54F}" destId="{1292C88F-EEFC-48EB-B2C3-EF178994AADD}" srcOrd="5" destOrd="0" presId="urn:microsoft.com/office/officeart/2005/8/layout/vList2"/>
    <dgm:cxn modelId="{4331756B-CBC3-4E50-95B3-0A23E57C47F8}" type="presParOf" srcId="{564EE670-6FEB-4955-B856-559A17E8B54F}" destId="{92A84CCF-D765-4E22-9B08-6E06FEB83FF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8F52B83-4176-4741-8F8D-0AA5FBF37D1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79CA395-5837-4C96-88E0-E12FBF84D2A9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98% of industrial/IoT traffic is unencrypted, making it vulnerable to MITM </a:t>
          </a:r>
          <a:endParaRPr lang="en-US"/>
        </a:p>
      </dgm:t>
    </dgm:pt>
    <dgm:pt modelId="{9DEE1A58-C79C-48BD-9935-230329680640}" type="parTrans" cxnId="{82944F51-2974-49FE-8AEB-75A699577DEC}">
      <dgm:prSet/>
      <dgm:spPr/>
      <dgm:t>
        <a:bodyPr/>
        <a:lstStyle/>
        <a:p>
          <a:endParaRPr lang="en-US"/>
        </a:p>
      </dgm:t>
    </dgm:pt>
    <dgm:pt modelId="{6C93CD37-0B87-4D1F-A609-216F14A20E8E}" type="sibTrans" cxnId="{82944F51-2974-49FE-8AEB-75A699577DEC}">
      <dgm:prSet/>
      <dgm:spPr/>
      <dgm:t>
        <a:bodyPr/>
        <a:lstStyle/>
        <a:p>
          <a:endParaRPr lang="en-US"/>
        </a:p>
      </dgm:t>
    </dgm:pt>
    <dgm:pt modelId="{6DD650DC-4E7A-4923-9B4C-705B1149AC43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Lightweight cryptography addresses resource constraints in industrial devices </a:t>
          </a:r>
          <a:endParaRPr lang="en-US"/>
        </a:p>
      </dgm:t>
    </dgm:pt>
    <dgm:pt modelId="{F0AE342D-97FB-4311-ACC8-56EE3EF25E37}" type="parTrans" cxnId="{D6CEFBCE-EF1A-4286-836D-5C92E344DEB1}">
      <dgm:prSet/>
      <dgm:spPr/>
      <dgm:t>
        <a:bodyPr/>
        <a:lstStyle/>
        <a:p>
          <a:endParaRPr lang="en-US"/>
        </a:p>
      </dgm:t>
    </dgm:pt>
    <dgm:pt modelId="{711C5E7E-8B33-424E-B03D-AE39DEF20687}" type="sibTrans" cxnId="{D6CEFBCE-EF1A-4286-836D-5C92E344DEB1}">
      <dgm:prSet/>
      <dgm:spPr/>
      <dgm:t>
        <a:bodyPr/>
        <a:lstStyle/>
        <a:p>
          <a:endParaRPr lang="en-US"/>
        </a:p>
      </dgm:t>
    </dgm:pt>
    <dgm:pt modelId="{C8E42210-4E52-48CE-A69F-8DF51A85AAAE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TLS/DTLS encrypts data transmission between devices, edge nodes and cloud platforms </a:t>
          </a:r>
          <a:endParaRPr lang="en-US"/>
        </a:p>
      </dgm:t>
    </dgm:pt>
    <dgm:pt modelId="{A07B314C-337D-4A05-A0BC-97BCC8D71073}" type="parTrans" cxnId="{ABDC973E-2F5E-4481-93AB-CAD03869F086}">
      <dgm:prSet/>
      <dgm:spPr/>
      <dgm:t>
        <a:bodyPr/>
        <a:lstStyle/>
        <a:p>
          <a:endParaRPr lang="en-US"/>
        </a:p>
      </dgm:t>
    </dgm:pt>
    <dgm:pt modelId="{7C4F11B8-D950-4C89-BF6F-93ED8EB4A476}" type="sibTrans" cxnId="{ABDC973E-2F5E-4481-93AB-CAD03869F086}">
      <dgm:prSet/>
      <dgm:spPr/>
      <dgm:t>
        <a:bodyPr/>
        <a:lstStyle/>
        <a:p>
          <a:endParaRPr lang="en-US"/>
        </a:p>
      </dgm:t>
    </dgm:pt>
    <dgm:pt modelId="{2C559DF1-B829-4F9A-98BF-18F19B04221F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OPC-UA offers reliable communication with built-in role-based access control </a:t>
          </a:r>
          <a:endParaRPr lang="en-US"/>
        </a:p>
      </dgm:t>
    </dgm:pt>
    <dgm:pt modelId="{EA957A97-6B33-475C-A58A-EA2D54FDA7C7}" type="parTrans" cxnId="{FC75102E-11AB-40D7-A63F-D09D2F8ABE17}">
      <dgm:prSet/>
      <dgm:spPr/>
      <dgm:t>
        <a:bodyPr/>
        <a:lstStyle/>
        <a:p>
          <a:endParaRPr lang="en-US"/>
        </a:p>
      </dgm:t>
    </dgm:pt>
    <dgm:pt modelId="{E0AA9410-D4E8-4B2D-9D18-2F5EEE685EDD}" type="sibTrans" cxnId="{FC75102E-11AB-40D7-A63F-D09D2F8ABE17}">
      <dgm:prSet/>
      <dgm:spPr/>
      <dgm:t>
        <a:bodyPr/>
        <a:lstStyle/>
        <a:p>
          <a:endParaRPr lang="en-US"/>
        </a:p>
      </dgm:t>
    </dgm:pt>
    <dgm:pt modelId="{129DDA1C-4B7E-4DD2-B8EF-214B3155AEB6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VPN paired with MFA prevents eavesdropping and MITM attacks on industrial networks </a:t>
          </a:r>
          <a:endParaRPr lang="en-US"/>
        </a:p>
      </dgm:t>
    </dgm:pt>
    <dgm:pt modelId="{83FC6462-299B-46C7-82E5-61EF5DE1536B}" type="parTrans" cxnId="{2E2D4BA5-030F-4D5D-9437-C775032FFB4D}">
      <dgm:prSet/>
      <dgm:spPr/>
      <dgm:t>
        <a:bodyPr/>
        <a:lstStyle/>
        <a:p>
          <a:endParaRPr lang="en-US"/>
        </a:p>
      </dgm:t>
    </dgm:pt>
    <dgm:pt modelId="{2250867A-2946-4EFA-A868-ADDC15BEFFA4}" type="sibTrans" cxnId="{2E2D4BA5-030F-4D5D-9437-C775032FFB4D}">
      <dgm:prSet/>
      <dgm:spPr/>
      <dgm:t>
        <a:bodyPr/>
        <a:lstStyle/>
        <a:p>
          <a:endParaRPr lang="en-US"/>
        </a:p>
      </dgm:t>
    </dgm:pt>
    <dgm:pt modelId="{641ACCF8-57DD-471D-B301-2B150D571D4C}" type="pres">
      <dgm:prSet presAssocID="{08F52B83-4176-4741-8F8D-0AA5FBF37D1B}" presName="root" presStyleCnt="0">
        <dgm:presLayoutVars>
          <dgm:dir/>
          <dgm:resizeHandles val="exact"/>
        </dgm:presLayoutVars>
      </dgm:prSet>
      <dgm:spPr/>
    </dgm:pt>
    <dgm:pt modelId="{9C5A8DAC-1382-4487-8198-C91AAAC35402}" type="pres">
      <dgm:prSet presAssocID="{B79CA395-5837-4C96-88E0-E12FBF84D2A9}" presName="compNode" presStyleCnt="0"/>
      <dgm:spPr/>
    </dgm:pt>
    <dgm:pt modelId="{6712C73C-71C2-4938-9464-2C350EE02A18}" type="pres">
      <dgm:prSet presAssocID="{B79CA395-5837-4C96-88E0-E12FBF84D2A9}" presName="bgRect" presStyleLbl="bgShp" presStyleIdx="0" presStyleCnt="5"/>
      <dgm:spPr/>
    </dgm:pt>
    <dgm:pt modelId="{F9B96A43-05FB-431A-93F4-9C280EDF59AD}" type="pres">
      <dgm:prSet presAssocID="{B79CA395-5837-4C96-88E0-E12FBF84D2A9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6DD7FC37-3105-43A1-8A6D-30DCFBEFF752}" type="pres">
      <dgm:prSet presAssocID="{B79CA395-5837-4C96-88E0-E12FBF84D2A9}" presName="spaceRect" presStyleCnt="0"/>
      <dgm:spPr/>
    </dgm:pt>
    <dgm:pt modelId="{D31EF4A8-22B4-4EC6-A9E9-2800E9DD9023}" type="pres">
      <dgm:prSet presAssocID="{B79CA395-5837-4C96-88E0-E12FBF84D2A9}" presName="parTx" presStyleLbl="revTx" presStyleIdx="0" presStyleCnt="5">
        <dgm:presLayoutVars>
          <dgm:chMax val="0"/>
          <dgm:chPref val="0"/>
        </dgm:presLayoutVars>
      </dgm:prSet>
      <dgm:spPr/>
    </dgm:pt>
    <dgm:pt modelId="{0405A680-9F90-47CA-A29F-FFB84B0E405B}" type="pres">
      <dgm:prSet presAssocID="{6C93CD37-0B87-4D1F-A609-216F14A20E8E}" presName="sibTrans" presStyleCnt="0"/>
      <dgm:spPr/>
    </dgm:pt>
    <dgm:pt modelId="{FF015C01-1EFA-444F-8E02-72AE040FE25B}" type="pres">
      <dgm:prSet presAssocID="{6DD650DC-4E7A-4923-9B4C-705B1149AC43}" presName="compNode" presStyleCnt="0"/>
      <dgm:spPr/>
    </dgm:pt>
    <dgm:pt modelId="{596EB42F-8147-4663-85E9-1C24440CB9A7}" type="pres">
      <dgm:prSet presAssocID="{6DD650DC-4E7A-4923-9B4C-705B1149AC43}" presName="bgRect" presStyleLbl="bgShp" presStyleIdx="1" presStyleCnt="5"/>
      <dgm:spPr/>
    </dgm:pt>
    <dgm:pt modelId="{26937796-6FFD-40BF-BB74-44FFBEA14E65}" type="pres">
      <dgm:prSet presAssocID="{6DD650DC-4E7A-4923-9B4C-705B1149AC43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AB45714B-8C4A-4EF8-8235-0178EAE76D5A}" type="pres">
      <dgm:prSet presAssocID="{6DD650DC-4E7A-4923-9B4C-705B1149AC43}" presName="spaceRect" presStyleCnt="0"/>
      <dgm:spPr/>
    </dgm:pt>
    <dgm:pt modelId="{52F3F5F9-F680-4A74-9AF3-64C95EBCB2A5}" type="pres">
      <dgm:prSet presAssocID="{6DD650DC-4E7A-4923-9B4C-705B1149AC43}" presName="parTx" presStyleLbl="revTx" presStyleIdx="1" presStyleCnt="5">
        <dgm:presLayoutVars>
          <dgm:chMax val="0"/>
          <dgm:chPref val="0"/>
        </dgm:presLayoutVars>
      </dgm:prSet>
      <dgm:spPr/>
    </dgm:pt>
    <dgm:pt modelId="{FADD9789-2553-45C6-9A03-36FDAD418FD0}" type="pres">
      <dgm:prSet presAssocID="{711C5E7E-8B33-424E-B03D-AE39DEF20687}" presName="sibTrans" presStyleCnt="0"/>
      <dgm:spPr/>
    </dgm:pt>
    <dgm:pt modelId="{FF110C6C-5E80-4FF3-95AE-B0898D19BE57}" type="pres">
      <dgm:prSet presAssocID="{C8E42210-4E52-48CE-A69F-8DF51A85AAAE}" presName="compNode" presStyleCnt="0"/>
      <dgm:spPr/>
    </dgm:pt>
    <dgm:pt modelId="{6ADAEAA2-D074-46A6-B43B-158B5F0057B3}" type="pres">
      <dgm:prSet presAssocID="{C8E42210-4E52-48CE-A69F-8DF51A85AAAE}" presName="bgRect" presStyleLbl="bgShp" presStyleIdx="2" presStyleCnt="5"/>
      <dgm:spPr/>
    </dgm:pt>
    <dgm:pt modelId="{F5B16F92-FF0E-4482-84C5-27D72ABE23A7}" type="pres">
      <dgm:prSet presAssocID="{C8E42210-4E52-48CE-A69F-8DF51A85AAAE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C9A79C60-8CBD-4A97-AECD-16507FF0A738}" type="pres">
      <dgm:prSet presAssocID="{C8E42210-4E52-48CE-A69F-8DF51A85AAAE}" presName="spaceRect" presStyleCnt="0"/>
      <dgm:spPr/>
    </dgm:pt>
    <dgm:pt modelId="{E2F2C850-3B7F-4D07-8051-64EAF66ECED8}" type="pres">
      <dgm:prSet presAssocID="{C8E42210-4E52-48CE-A69F-8DF51A85AAAE}" presName="parTx" presStyleLbl="revTx" presStyleIdx="2" presStyleCnt="5">
        <dgm:presLayoutVars>
          <dgm:chMax val="0"/>
          <dgm:chPref val="0"/>
        </dgm:presLayoutVars>
      </dgm:prSet>
      <dgm:spPr/>
    </dgm:pt>
    <dgm:pt modelId="{5E6BC9EB-2EC4-4567-9A43-51524F65B3F2}" type="pres">
      <dgm:prSet presAssocID="{7C4F11B8-D950-4C89-BF6F-93ED8EB4A476}" presName="sibTrans" presStyleCnt="0"/>
      <dgm:spPr/>
    </dgm:pt>
    <dgm:pt modelId="{A1255896-FE05-471D-A8D8-55BC2C3ABF86}" type="pres">
      <dgm:prSet presAssocID="{2C559DF1-B829-4F9A-98BF-18F19B04221F}" presName="compNode" presStyleCnt="0"/>
      <dgm:spPr/>
    </dgm:pt>
    <dgm:pt modelId="{0DF87303-FBCE-4DB0-904A-7DEFA300638F}" type="pres">
      <dgm:prSet presAssocID="{2C559DF1-B829-4F9A-98BF-18F19B04221F}" presName="bgRect" presStyleLbl="bgShp" presStyleIdx="3" presStyleCnt="5"/>
      <dgm:spPr/>
    </dgm:pt>
    <dgm:pt modelId="{1A3ACEEF-483E-44DA-8093-C13EB61641CC}" type="pres">
      <dgm:prSet presAssocID="{2C559DF1-B829-4F9A-98BF-18F19B04221F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4F6D606-712E-47F4-ACBA-476EACF32F2D}" type="pres">
      <dgm:prSet presAssocID="{2C559DF1-B829-4F9A-98BF-18F19B04221F}" presName="spaceRect" presStyleCnt="0"/>
      <dgm:spPr/>
    </dgm:pt>
    <dgm:pt modelId="{BE184B99-8E14-419D-9A5E-EE67EBD64729}" type="pres">
      <dgm:prSet presAssocID="{2C559DF1-B829-4F9A-98BF-18F19B04221F}" presName="parTx" presStyleLbl="revTx" presStyleIdx="3" presStyleCnt="5">
        <dgm:presLayoutVars>
          <dgm:chMax val="0"/>
          <dgm:chPref val="0"/>
        </dgm:presLayoutVars>
      </dgm:prSet>
      <dgm:spPr/>
    </dgm:pt>
    <dgm:pt modelId="{0BC41B8E-F182-4B13-AB1C-CE12110B84C2}" type="pres">
      <dgm:prSet presAssocID="{E0AA9410-D4E8-4B2D-9D18-2F5EEE685EDD}" presName="sibTrans" presStyleCnt="0"/>
      <dgm:spPr/>
    </dgm:pt>
    <dgm:pt modelId="{D5870D31-9BE9-4CCC-8382-5FF0A45AC3F9}" type="pres">
      <dgm:prSet presAssocID="{129DDA1C-4B7E-4DD2-B8EF-214B3155AEB6}" presName="compNode" presStyleCnt="0"/>
      <dgm:spPr/>
    </dgm:pt>
    <dgm:pt modelId="{96502EA7-F98D-48E8-A71F-3303AEEF4866}" type="pres">
      <dgm:prSet presAssocID="{129DDA1C-4B7E-4DD2-B8EF-214B3155AEB6}" presName="bgRect" presStyleLbl="bgShp" presStyleIdx="4" presStyleCnt="5"/>
      <dgm:spPr/>
    </dgm:pt>
    <dgm:pt modelId="{FA40092B-F1CC-4264-9DB1-13FC80059A89}" type="pres">
      <dgm:prSet presAssocID="{129DDA1C-4B7E-4DD2-B8EF-214B3155AEB6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7F61C44-283F-4076-B580-982BCDDE01D5}" type="pres">
      <dgm:prSet presAssocID="{129DDA1C-4B7E-4DD2-B8EF-214B3155AEB6}" presName="spaceRect" presStyleCnt="0"/>
      <dgm:spPr/>
    </dgm:pt>
    <dgm:pt modelId="{236A9881-237A-4B0F-AF2E-72F6F46B9B1E}" type="pres">
      <dgm:prSet presAssocID="{129DDA1C-4B7E-4DD2-B8EF-214B3155AEB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DE89F21-4F88-43E2-A2DF-A156129CDEBF}" type="presOf" srcId="{6DD650DC-4E7A-4923-9B4C-705B1149AC43}" destId="{52F3F5F9-F680-4A74-9AF3-64C95EBCB2A5}" srcOrd="0" destOrd="0" presId="urn:microsoft.com/office/officeart/2018/2/layout/IconVerticalSolidList"/>
    <dgm:cxn modelId="{6E7D9423-8FC7-4D90-A773-69139BF1C7E2}" type="presOf" srcId="{2C559DF1-B829-4F9A-98BF-18F19B04221F}" destId="{BE184B99-8E14-419D-9A5E-EE67EBD64729}" srcOrd="0" destOrd="0" presId="urn:microsoft.com/office/officeart/2018/2/layout/IconVerticalSolidList"/>
    <dgm:cxn modelId="{FC75102E-11AB-40D7-A63F-D09D2F8ABE17}" srcId="{08F52B83-4176-4741-8F8D-0AA5FBF37D1B}" destId="{2C559DF1-B829-4F9A-98BF-18F19B04221F}" srcOrd="3" destOrd="0" parTransId="{EA957A97-6B33-475C-A58A-EA2D54FDA7C7}" sibTransId="{E0AA9410-D4E8-4B2D-9D18-2F5EEE685EDD}"/>
    <dgm:cxn modelId="{ABDC973E-2F5E-4481-93AB-CAD03869F086}" srcId="{08F52B83-4176-4741-8F8D-0AA5FBF37D1B}" destId="{C8E42210-4E52-48CE-A69F-8DF51A85AAAE}" srcOrd="2" destOrd="0" parTransId="{A07B314C-337D-4A05-A0BC-97BCC8D71073}" sibTransId="{7C4F11B8-D950-4C89-BF6F-93ED8EB4A476}"/>
    <dgm:cxn modelId="{735FAF5D-242D-4E33-9A2A-6D0F76FE1E77}" type="presOf" srcId="{129DDA1C-4B7E-4DD2-B8EF-214B3155AEB6}" destId="{236A9881-237A-4B0F-AF2E-72F6F46B9B1E}" srcOrd="0" destOrd="0" presId="urn:microsoft.com/office/officeart/2018/2/layout/IconVerticalSolidList"/>
    <dgm:cxn modelId="{A0C5BC43-E627-41DB-9B22-7145E6AAF68D}" type="presOf" srcId="{B79CA395-5837-4C96-88E0-E12FBF84D2A9}" destId="{D31EF4A8-22B4-4EC6-A9E9-2800E9DD9023}" srcOrd="0" destOrd="0" presId="urn:microsoft.com/office/officeart/2018/2/layout/IconVerticalSolidList"/>
    <dgm:cxn modelId="{75B4FB45-84AD-4A4E-941C-FA4514AE7BD2}" type="presOf" srcId="{C8E42210-4E52-48CE-A69F-8DF51A85AAAE}" destId="{E2F2C850-3B7F-4D07-8051-64EAF66ECED8}" srcOrd="0" destOrd="0" presId="urn:microsoft.com/office/officeart/2018/2/layout/IconVerticalSolidList"/>
    <dgm:cxn modelId="{82944F51-2974-49FE-8AEB-75A699577DEC}" srcId="{08F52B83-4176-4741-8F8D-0AA5FBF37D1B}" destId="{B79CA395-5837-4C96-88E0-E12FBF84D2A9}" srcOrd="0" destOrd="0" parTransId="{9DEE1A58-C79C-48BD-9935-230329680640}" sibTransId="{6C93CD37-0B87-4D1F-A609-216F14A20E8E}"/>
    <dgm:cxn modelId="{FEED2272-4EE2-4092-838D-4D32CED520B3}" type="presOf" srcId="{08F52B83-4176-4741-8F8D-0AA5FBF37D1B}" destId="{641ACCF8-57DD-471D-B301-2B150D571D4C}" srcOrd="0" destOrd="0" presId="urn:microsoft.com/office/officeart/2018/2/layout/IconVerticalSolidList"/>
    <dgm:cxn modelId="{2E2D4BA5-030F-4D5D-9437-C775032FFB4D}" srcId="{08F52B83-4176-4741-8F8D-0AA5FBF37D1B}" destId="{129DDA1C-4B7E-4DD2-B8EF-214B3155AEB6}" srcOrd="4" destOrd="0" parTransId="{83FC6462-299B-46C7-82E5-61EF5DE1536B}" sibTransId="{2250867A-2946-4EFA-A868-ADDC15BEFFA4}"/>
    <dgm:cxn modelId="{D6CEFBCE-EF1A-4286-836D-5C92E344DEB1}" srcId="{08F52B83-4176-4741-8F8D-0AA5FBF37D1B}" destId="{6DD650DC-4E7A-4923-9B4C-705B1149AC43}" srcOrd="1" destOrd="0" parTransId="{F0AE342D-97FB-4311-ACC8-56EE3EF25E37}" sibTransId="{711C5E7E-8B33-424E-B03D-AE39DEF20687}"/>
    <dgm:cxn modelId="{860D920C-E77C-486E-9ED7-F4ECCCB07015}" type="presParOf" srcId="{641ACCF8-57DD-471D-B301-2B150D571D4C}" destId="{9C5A8DAC-1382-4487-8198-C91AAAC35402}" srcOrd="0" destOrd="0" presId="urn:microsoft.com/office/officeart/2018/2/layout/IconVerticalSolidList"/>
    <dgm:cxn modelId="{CF5BE2C0-C8B5-4858-802E-BFC1668AB260}" type="presParOf" srcId="{9C5A8DAC-1382-4487-8198-C91AAAC35402}" destId="{6712C73C-71C2-4938-9464-2C350EE02A18}" srcOrd="0" destOrd="0" presId="urn:microsoft.com/office/officeart/2018/2/layout/IconVerticalSolidList"/>
    <dgm:cxn modelId="{9F9A0681-B74E-4C0D-800A-CD77072C4C0C}" type="presParOf" srcId="{9C5A8DAC-1382-4487-8198-C91AAAC35402}" destId="{F9B96A43-05FB-431A-93F4-9C280EDF59AD}" srcOrd="1" destOrd="0" presId="urn:microsoft.com/office/officeart/2018/2/layout/IconVerticalSolidList"/>
    <dgm:cxn modelId="{14286870-36D4-4653-A976-618113ED6259}" type="presParOf" srcId="{9C5A8DAC-1382-4487-8198-C91AAAC35402}" destId="{6DD7FC37-3105-43A1-8A6D-30DCFBEFF752}" srcOrd="2" destOrd="0" presId="urn:microsoft.com/office/officeart/2018/2/layout/IconVerticalSolidList"/>
    <dgm:cxn modelId="{CCEC4287-1BA3-4C06-A2F7-B0992DC134F5}" type="presParOf" srcId="{9C5A8DAC-1382-4487-8198-C91AAAC35402}" destId="{D31EF4A8-22B4-4EC6-A9E9-2800E9DD9023}" srcOrd="3" destOrd="0" presId="urn:microsoft.com/office/officeart/2018/2/layout/IconVerticalSolidList"/>
    <dgm:cxn modelId="{8EAF44F0-B37B-42E1-9617-025E03B00AAF}" type="presParOf" srcId="{641ACCF8-57DD-471D-B301-2B150D571D4C}" destId="{0405A680-9F90-47CA-A29F-FFB84B0E405B}" srcOrd="1" destOrd="0" presId="urn:microsoft.com/office/officeart/2018/2/layout/IconVerticalSolidList"/>
    <dgm:cxn modelId="{A05E204D-CF44-41F5-A8A6-126358D8C187}" type="presParOf" srcId="{641ACCF8-57DD-471D-B301-2B150D571D4C}" destId="{FF015C01-1EFA-444F-8E02-72AE040FE25B}" srcOrd="2" destOrd="0" presId="urn:microsoft.com/office/officeart/2018/2/layout/IconVerticalSolidList"/>
    <dgm:cxn modelId="{4EFA4A6B-740C-4A79-A2C1-407ABA3A28B8}" type="presParOf" srcId="{FF015C01-1EFA-444F-8E02-72AE040FE25B}" destId="{596EB42F-8147-4663-85E9-1C24440CB9A7}" srcOrd="0" destOrd="0" presId="urn:microsoft.com/office/officeart/2018/2/layout/IconVerticalSolidList"/>
    <dgm:cxn modelId="{0B66D9EC-7B93-45BE-B66A-9C9192A21C33}" type="presParOf" srcId="{FF015C01-1EFA-444F-8E02-72AE040FE25B}" destId="{26937796-6FFD-40BF-BB74-44FFBEA14E65}" srcOrd="1" destOrd="0" presId="urn:microsoft.com/office/officeart/2018/2/layout/IconVerticalSolidList"/>
    <dgm:cxn modelId="{8484BD60-BC9E-4EFF-BBC1-CE6F96E3CAF1}" type="presParOf" srcId="{FF015C01-1EFA-444F-8E02-72AE040FE25B}" destId="{AB45714B-8C4A-4EF8-8235-0178EAE76D5A}" srcOrd="2" destOrd="0" presId="urn:microsoft.com/office/officeart/2018/2/layout/IconVerticalSolidList"/>
    <dgm:cxn modelId="{98434ADE-1004-4F82-BA4F-839A79019CD4}" type="presParOf" srcId="{FF015C01-1EFA-444F-8E02-72AE040FE25B}" destId="{52F3F5F9-F680-4A74-9AF3-64C95EBCB2A5}" srcOrd="3" destOrd="0" presId="urn:microsoft.com/office/officeart/2018/2/layout/IconVerticalSolidList"/>
    <dgm:cxn modelId="{61EAFCE3-FD4D-4725-88CE-9C485E1B7CEC}" type="presParOf" srcId="{641ACCF8-57DD-471D-B301-2B150D571D4C}" destId="{FADD9789-2553-45C6-9A03-36FDAD418FD0}" srcOrd="3" destOrd="0" presId="urn:microsoft.com/office/officeart/2018/2/layout/IconVerticalSolidList"/>
    <dgm:cxn modelId="{58A918FB-2124-4812-80CE-CCB68016196F}" type="presParOf" srcId="{641ACCF8-57DD-471D-B301-2B150D571D4C}" destId="{FF110C6C-5E80-4FF3-95AE-B0898D19BE57}" srcOrd="4" destOrd="0" presId="urn:microsoft.com/office/officeart/2018/2/layout/IconVerticalSolidList"/>
    <dgm:cxn modelId="{A4FFB4E3-C476-4611-87C3-6F3EC0C8EC66}" type="presParOf" srcId="{FF110C6C-5E80-4FF3-95AE-B0898D19BE57}" destId="{6ADAEAA2-D074-46A6-B43B-158B5F0057B3}" srcOrd="0" destOrd="0" presId="urn:microsoft.com/office/officeart/2018/2/layout/IconVerticalSolidList"/>
    <dgm:cxn modelId="{9E060522-65DC-41B2-9CAA-E623A03EBD8D}" type="presParOf" srcId="{FF110C6C-5E80-4FF3-95AE-B0898D19BE57}" destId="{F5B16F92-FF0E-4482-84C5-27D72ABE23A7}" srcOrd="1" destOrd="0" presId="urn:microsoft.com/office/officeart/2018/2/layout/IconVerticalSolidList"/>
    <dgm:cxn modelId="{511A772E-AEB4-4342-BB3D-00A8C16B4BF3}" type="presParOf" srcId="{FF110C6C-5E80-4FF3-95AE-B0898D19BE57}" destId="{C9A79C60-8CBD-4A97-AECD-16507FF0A738}" srcOrd="2" destOrd="0" presId="urn:microsoft.com/office/officeart/2018/2/layout/IconVerticalSolidList"/>
    <dgm:cxn modelId="{07C8E227-9130-4E31-92EF-3878DE8CF697}" type="presParOf" srcId="{FF110C6C-5E80-4FF3-95AE-B0898D19BE57}" destId="{E2F2C850-3B7F-4D07-8051-64EAF66ECED8}" srcOrd="3" destOrd="0" presId="urn:microsoft.com/office/officeart/2018/2/layout/IconVerticalSolidList"/>
    <dgm:cxn modelId="{CAC56867-14FD-45BD-9907-CC9AB097D1DE}" type="presParOf" srcId="{641ACCF8-57DD-471D-B301-2B150D571D4C}" destId="{5E6BC9EB-2EC4-4567-9A43-51524F65B3F2}" srcOrd="5" destOrd="0" presId="urn:microsoft.com/office/officeart/2018/2/layout/IconVerticalSolidList"/>
    <dgm:cxn modelId="{F6585DF7-3A97-470A-92D5-8B4A54AF6DD7}" type="presParOf" srcId="{641ACCF8-57DD-471D-B301-2B150D571D4C}" destId="{A1255896-FE05-471D-A8D8-55BC2C3ABF86}" srcOrd="6" destOrd="0" presId="urn:microsoft.com/office/officeart/2018/2/layout/IconVerticalSolidList"/>
    <dgm:cxn modelId="{B4BCD189-925D-4223-91A0-AA5A853F54AD}" type="presParOf" srcId="{A1255896-FE05-471D-A8D8-55BC2C3ABF86}" destId="{0DF87303-FBCE-4DB0-904A-7DEFA300638F}" srcOrd="0" destOrd="0" presId="urn:microsoft.com/office/officeart/2018/2/layout/IconVerticalSolidList"/>
    <dgm:cxn modelId="{15BB1121-4418-42A3-BF7C-AB4017924156}" type="presParOf" srcId="{A1255896-FE05-471D-A8D8-55BC2C3ABF86}" destId="{1A3ACEEF-483E-44DA-8093-C13EB61641CC}" srcOrd="1" destOrd="0" presId="urn:microsoft.com/office/officeart/2018/2/layout/IconVerticalSolidList"/>
    <dgm:cxn modelId="{0610A77F-E051-40B6-A958-2CB7CF88C428}" type="presParOf" srcId="{A1255896-FE05-471D-A8D8-55BC2C3ABF86}" destId="{54F6D606-712E-47F4-ACBA-476EACF32F2D}" srcOrd="2" destOrd="0" presId="urn:microsoft.com/office/officeart/2018/2/layout/IconVerticalSolidList"/>
    <dgm:cxn modelId="{AB75163F-68A3-4D09-8FF8-5DB860443B28}" type="presParOf" srcId="{A1255896-FE05-471D-A8D8-55BC2C3ABF86}" destId="{BE184B99-8E14-419D-9A5E-EE67EBD64729}" srcOrd="3" destOrd="0" presId="urn:microsoft.com/office/officeart/2018/2/layout/IconVerticalSolidList"/>
    <dgm:cxn modelId="{67937056-5886-448F-B248-7C756BA51A2C}" type="presParOf" srcId="{641ACCF8-57DD-471D-B301-2B150D571D4C}" destId="{0BC41B8E-F182-4B13-AB1C-CE12110B84C2}" srcOrd="7" destOrd="0" presId="urn:microsoft.com/office/officeart/2018/2/layout/IconVerticalSolidList"/>
    <dgm:cxn modelId="{D93FF802-03AC-4D3F-B608-F7116CF280A6}" type="presParOf" srcId="{641ACCF8-57DD-471D-B301-2B150D571D4C}" destId="{D5870D31-9BE9-4CCC-8382-5FF0A45AC3F9}" srcOrd="8" destOrd="0" presId="urn:microsoft.com/office/officeart/2018/2/layout/IconVerticalSolidList"/>
    <dgm:cxn modelId="{E2B19A02-5E8B-4CDF-9408-A55C14636CAF}" type="presParOf" srcId="{D5870D31-9BE9-4CCC-8382-5FF0A45AC3F9}" destId="{96502EA7-F98D-48E8-A71F-3303AEEF4866}" srcOrd="0" destOrd="0" presId="urn:microsoft.com/office/officeart/2018/2/layout/IconVerticalSolidList"/>
    <dgm:cxn modelId="{B5CEC2D8-CA35-4F26-9F06-2A924DC157ED}" type="presParOf" srcId="{D5870D31-9BE9-4CCC-8382-5FF0A45AC3F9}" destId="{FA40092B-F1CC-4264-9DB1-13FC80059A89}" srcOrd="1" destOrd="0" presId="urn:microsoft.com/office/officeart/2018/2/layout/IconVerticalSolidList"/>
    <dgm:cxn modelId="{42821EE8-1E42-451E-B8F5-FF2CF4EB2419}" type="presParOf" srcId="{D5870D31-9BE9-4CCC-8382-5FF0A45AC3F9}" destId="{D7F61C44-283F-4076-B580-982BCDDE01D5}" srcOrd="2" destOrd="0" presId="urn:microsoft.com/office/officeart/2018/2/layout/IconVerticalSolidList"/>
    <dgm:cxn modelId="{E6F4A911-86E2-4E06-9464-0BADB530B3B6}" type="presParOf" srcId="{D5870D31-9BE9-4CCC-8382-5FF0A45AC3F9}" destId="{236A9881-237A-4B0F-AF2E-72F6F46B9B1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C94F2B-5A51-4299-9D0E-7F919438CABE}">
      <dsp:nvSpPr>
        <dsp:cNvPr id="0" name=""/>
        <dsp:cNvSpPr/>
      </dsp:nvSpPr>
      <dsp:spPr>
        <a:xfrm>
          <a:off x="0" y="1141"/>
          <a:ext cx="10644338" cy="5784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81033E-927B-4898-BC21-AB47525277D2}">
      <dsp:nvSpPr>
        <dsp:cNvPr id="0" name=""/>
        <dsp:cNvSpPr/>
      </dsp:nvSpPr>
      <dsp:spPr>
        <a:xfrm>
          <a:off x="174993" y="131301"/>
          <a:ext cx="318169" cy="3181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7B4CB2-CBCF-4A02-965D-E4552DB2EA30}">
      <dsp:nvSpPr>
        <dsp:cNvPr id="0" name=""/>
        <dsp:cNvSpPr/>
      </dsp:nvSpPr>
      <dsp:spPr>
        <a:xfrm>
          <a:off x="668156" y="1141"/>
          <a:ext cx="9976181" cy="578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24" tIns="61224" rIns="61224" bIns="612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Attacker listens and takes control of the communication between two endpoints.</a:t>
          </a:r>
          <a:endParaRPr lang="en-US" sz="2200" kern="1200"/>
        </a:p>
      </dsp:txBody>
      <dsp:txXfrm>
        <a:off x="668156" y="1141"/>
        <a:ext cx="9976181" cy="578490"/>
      </dsp:txXfrm>
    </dsp:sp>
    <dsp:sp modelId="{58A41CB0-26EA-412B-A0CA-68AD8B28C3DB}">
      <dsp:nvSpPr>
        <dsp:cNvPr id="0" name=""/>
        <dsp:cNvSpPr/>
      </dsp:nvSpPr>
      <dsp:spPr>
        <a:xfrm>
          <a:off x="0" y="724254"/>
          <a:ext cx="10644338" cy="5784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8CEBDE-CBCB-4F67-9E66-83CA431BC464}">
      <dsp:nvSpPr>
        <dsp:cNvPr id="0" name=""/>
        <dsp:cNvSpPr/>
      </dsp:nvSpPr>
      <dsp:spPr>
        <a:xfrm>
          <a:off x="174993" y="854414"/>
          <a:ext cx="318169" cy="3181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BE6507-2DCA-46D1-8709-6A689DD90EC0}">
      <dsp:nvSpPr>
        <dsp:cNvPr id="0" name=""/>
        <dsp:cNvSpPr/>
      </dsp:nvSpPr>
      <dsp:spPr>
        <a:xfrm>
          <a:off x="668156" y="724254"/>
          <a:ext cx="9976181" cy="578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24" tIns="61224" rIns="61224" bIns="612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Endpoints </a:t>
          </a:r>
          <a:r>
            <a:rPr lang="de-DE" sz="2200" kern="1200" dirty="0" err="1"/>
            <a:t>are</a:t>
          </a:r>
          <a:r>
            <a:rPr lang="de-DE" sz="2200" kern="1200" dirty="0"/>
            <a:t> </a:t>
          </a:r>
          <a:r>
            <a:rPr lang="de-DE" sz="2200" kern="1200" dirty="0" err="1"/>
            <a:t>unaware</a:t>
          </a:r>
          <a:r>
            <a:rPr lang="de-DE" sz="2200" kern="1200" dirty="0"/>
            <a:t> </a:t>
          </a:r>
          <a:r>
            <a:rPr lang="de-DE" sz="2200" kern="1200" dirty="0" err="1"/>
            <a:t>of</a:t>
          </a:r>
          <a:r>
            <a:rPr lang="de-DE" sz="2200" kern="1200" dirty="0"/>
            <a:t> </a:t>
          </a:r>
          <a:r>
            <a:rPr lang="de-DE" sz="2200" kern="1200" dirty="0" err="1"/>
            <a:t>the</a:t>
          </a:r>
          <a:r>
            <a:rPr lang="de-DE" sz="2200" kern="1200" dirty="0"/>
            <a:t> </a:t>
          </a:r>
          <a:r>
            <a:rPr lang="de-DE" sz="2200" kern="1200" dirty="0" err="1"/>
            <a:t>attacker's</a:t>
          </a:r>
          <a:r>
            <a:rPr lang="de-DE" sz="2200" kern="1200" dirty="0"/>
            <a:t> </a:t>
          </a:r>
          <a:r>
            <a:rPr lang="de-DE" sz="2200" kern="1200" dirty="0" err="1"/>
            <a:t>presence</a:t>
          </a:r>
          <a:r>
            <a:rPr lang="de-DE" sz="2200" kern="1200" dirty="0"/>
            <a:t>.</a:t>
          </a:r>
          <a:endParaRPr lang="en-US" sz="2200" kern="1200" dirty="0"/>
        </a:p>
      </dsp:txBody>
      <dsp:txXfrm>
        <a:off x="668156" y="724254"/>
        <a:ext cx="9976181" cy="578490"/>
      </dsp:txXfrm>
    </dsp:sp>
    <dsp:sp modelId="{8F79263E-BEA1-4FE8-8832-AEA21FB7077E}">
      <dsp:nvSpPr>
        <dsp:cNvPr id="0" name=""/>
        <dsp:cNvSpPr/>
      </dsp:nvSpPr>
      <dsp:spPr>
        <a:xfrm>
          <a:off x="0" y="1447367"/>
          <a:ext cx="10644338" cy="5784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59C52D-F587-4388-831D-DCEFCD4D2657}">
      <dsp:nvSpPr>
        <dsp:cNvPr id="0" name=""/>
        <dsp:cNvSpPr/>
      </dsp:nvSpPr>
      <dsp:spPr>
        <a:xfrm>
          <a:off x="174993" y="1577527"/>
          <a:ext cx="318169" cy="3181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676CC2-07F2-440E-9F54-CCB7D7EF2A5C}">
      <dsp:nvSpPr>
        <dsp:cNvPr id="0" name=""/>
        <dsp:cNvSpPr/>
      </dsp:nvSpPr>
      <dsp:spPr>
        <a:xfrm>
          <a:off x="668156" y="1447367"/>
          <a:ext cx="9976181" cy="578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24" tIns="61224" rIns="61224" bIns="612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Compromises CIA triad: Confidentiality, Integrity, Availability.</a:t>
          </a:r>
          <a:endParaRPr lang="en-US" sz="2200" kern="1200"/>
        </a:p>
      </dsp:txBody>
      <dsp:txXfrm>
        <a:off x="668156" y="1447367"/>
        <a:ext cx="9976181" cy="578490"/>
      </dsp:txXfrm>
    </dsp:sp>
    <dsp:sp modelId="{DD265DC6-5886-42C3-A52C-EF978E95E5CA}">
      <dsp:nvSpPr>
        <dsp:cNvPr id="0" name=""/>
        <dsp:cNvSpPr/>
      </dsp:nvSpPr>
      <dsp:spPr>
        <a:xfrm>
          <a:off x="0" y="2170480"/>
          <a:ext cx="10644338" cy="5784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7D1606-D16A-49F5-B64B-661506E6A9DC}">
      <dsp:nvSpPr>
        <dsp:cNvPr id="0" name=""/>
        <dsp:cNvSpPr/>
      </dsp:nvSpPr>
      <dsp:spPr>
        <a:xfrm>
          <a:off x="174993" y="2300640"/>
          <a:ext cx="318169" cy="3181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9FA3FB-2DE9-4A33-BB27-AEC21E041D82}">
      <dsp:nvSpPr>
        <dsp:cNvPr id="0" name=""/>
        <dsp:cNvSpPr/>
      </dsp:nvSpPr>
      <dsp:spPr>
        <a:xfrm>
          <a:off x="668156" y="2170480"/>
          <a:ext cx="9976181" cy="578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24" tIns="61224" rIns="61224" bIns="612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Two types: Passive and Active.</a:t>
          </a:r>
          <a:endParaRPr lang="en-US" sz="2200" kern="1200"/>
        </a:p>
      </dsp:txBody>
      <dsp:txXfrm>
        <a:off x="668156" y="2170480"/>
        <a:ext cx="9976181" cy="5784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C81E73-565D-4D41-8271-A9B080300D0D}">
      <dsp:nvSpPr>
        <dsp:cNvPr id="0" name=""/>
        <dsp:cNvSpPr/>
      </dsp:nvSpPr>
      <dsp:spPr>
        <a:xfrm>
          <a:off x="0" y="536652"/>
          <a:ext cx="8412479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/>
            <a:t>Divides the network into smaller isolated segments.</a:t>
          </a:r>
          <a:endParaRPr lang="en-US" sz="2100" kern="1200"/>
        </a:p>
      </dsp:txBody>
      <dsp:txXfrm>
        <a:off x="24588" y="561240"/>
        <a:ext cx="8363303" cy="454509"/>
      </dsp:txXfrm>
    </dsp:sp>
    <dsp:sp modelId="{0135A122-2776-4A1F-ABF6-14ADA117CBA2}">
      <dsp:nvSpPr>
        <dsp:cNvPr id="0" name=""/>
        <dsp:cNvSpPr/>
      </dsp:nvSpPr>
      <dsp:spPr>
        <a:xfrm>
          <a:off x="0" y="1100817"/>
          <a:ext cx="8412479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/>
            <a:t>Core principle: limits attacker's lateral movement.</a:t>
          </a:r>
          <a:endParaRPr lang="en-US" sz="2100" kern="1200"/>
        </a:p>
      </dsp:txBody>
      <dsp:txXfrm>
        <a:off x="24588" y="1125405"/>
        <a:ext cx="8363303" cy="454509"/>
      </dsp:txXfrm>
    </dsp:sp>
    <dsp:sp modelId="{C3FF047B-6425-403A-A7DC-21D335B5349E}">
      <dsp:nvSpPr>
        <dsp:cNvPr id="0" name=""/>
        <dsp:cNvSpPr/>
      </dsp:nvSpPr>
      <dsp:spPr>
        <a:xfrm>
          <a:off x="0" y="1664982"/>
          <a:ext cx="8412479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/>
            <a:t>Micro-segmentation isolates individual devices.</a:t>
          </a:r>
          <a:endParaRPr lang="en-US" sz="2100" kern="1200"/>
        </a:p>
      </dsp:txBody>
      <dsp:txXfrm>
        <a:off x="24588" y="1689570"/>
        <a:ext cx="8363303" cy="454509"/>
      </dsp:txXfrm>
    </dsp:sp>
    <dsp:sp modelId="{92A84CCF-D765-4E22-9B08-6E06FEB83FFD}">
      <dsp:nvSpPr>
        <dsp:cNvPr id="0" name=""/>
        <dsp:cNvSpPr/>
      </dsp:nvSpPr>
      <dsp:spPr>
        <a:xfrm>
          <a:off x="0" y="2229147"/>
          <a:ext cx="8412479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/>
            <a:t>Zero-trust micro-segmentation reduced network exposure by up to 90%.</a:t>
          </a:r>
          <a:endParaRPr lang="en-US" sz="2100" kern="1200"/>
        </a:p>
      </dsp:txBody>
      <dsp:txXfrm>
        <a:off x="24588" y="2253735"/>
        <a:ext cx="8363303" cy="4545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12C73C-71C2-4938-9464-2C350EE02A18}">
      <dsp:nvSpPr>
        <dsp:cNvPr id="0" name=""/>
        <dsp:cNvSpPr/>
      </dsp:nvSpPr>
      <dsp:spPr>
        <a:xfrm>
          <a:off x="0" y="3041"/>
          <a:ext cx="8412479" cy="6477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B96A43-05FB-431A-93F4-9C280EDF59AD}">
      <dsp:nvSpPr>
        <dsp:cNvPr id="0" name=""/>
        <dsp:cNvSpPr/>
      </dsp:nvSpPr>
      <dsp:spPr>
        <a:xfrm>
          <a:off x="195951" y="148790"/>
          <a:ext cx="356276" cy="3562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1EF4A8-22B4-4EC6-A9E9-2800E9DD9023}">
      <dsp:nvSpPr>
        <dsp:cNvPr id="0" name=""/>
        <dsp:cNvSpPr/>
      </dsp:nvSpPr>
      <dsp:spPr>
        <a:xfrm>
          <a:off x="748180" y="3041"/>
          <a:ext cx="7664298" cy="647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56" tIns="68556" rIns="68556" bIns="685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98% of industrial/IoT traffic is unencrypted, making it vulnerable to MITM </a:t>
          </a:r>
          <a:endParaRPr lang="en-US" sz="1600" kern="1200"/>
        </a:p>
      </dsp:txBody>
      <dsp:txXfrm>
        <a:off x="748180" y="3041"/>
        <a:ext cx="7664298" cy="647774"/>
      </dsp:txXfrm>
    </dsp:sp>
    <dsp:sp modelId="{596EB42F-8147-4663-85E9-1C24440CB9A7}">
      <dsp:nvSpPr>
        <dsp:cNvPr id="0" name=""/>
        <dsp:cNvSpPr/>
      </dsp:nvSpPr>
      <dsp:spPr>
        <a:xfrm>
          <a:off x="0" y="812759"/>
          <a:ext cx="8412479" cy="6477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937796-6FFD-40BF-BB74-44FFBEA14E65}">
      <dsp:nvSpPr>
        <dsp:cNvPr id="0" name=""/>
        <dsp:cNvSpPr/>
      </dsp:nvSpPr>
      <dsp:spPr>
        <a:xfrm>
          <a:off x="195951" y="958509"/>
          <a:ext cx="356276" cy="3562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F3F5F9-F680-4A74-9AF3-64C95EBCB2A5}">
      <dsp:nvSpPr>
        <dsp:cNvPr id="0" name=""/>
        <dsp:cNvSpPr/>
      </dsp:nvSpPr>
      <dsp:spPr>
        <a:xfrm>
          <a:off x="748180" y="812759"/>
          <a:ext cx="7664298" cy="647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56" tIns="68556" rIns="68556" bIns="685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Lightweight cryptography addresses resource constraints in industrial devices </a:t>
          </a:r>
          <a:endParaRPr lang="en-US" sz="1600" kern="1200"/>
        </a:p>
      </dsp:txBody>
      <dsp:txXfrm>
        <a:off x="748180" y="812759"/>
        <a:ext cx="7664298" cy="647774"/>
      </dsp:txXfrm>
    </dsp:sp>
    <dsp:sp modelId="{6ADAEAA2-D074-46A6-B43B-158B5F0057B3}">
      <dsp:nvSpPr>
        <dsp:cNvPr id="0" name=""/>
        <dsp:cNvSpPr/>
      </dsp:nvSpPr>
      <dsp:spPr>
        <a:xfrm>
          <a:off x="0" y="1622478"/>
          <a:ext cx="8412479" cy="6477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B16F92-FF0E-4482-84C5-27D72ABE23A7}">
      <dsp:nvSpPr>
        <dsp:cNvPr id="0" name=""/>
        <dsp:cNvSpPr/>
      </dsp:nvSpPr>
      <dsp:spPr>
        <a:xfrm>
          <a:off x="195951" y="1768227"/>
          <a:ext cx="356276" cy="3562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F2C850-3B7F-4D07-8051-64EAF66ECED8}">
      <dsp:nvSpPr>
        <dsp:cNvPr id="0" name=""/>
        <dsp:cNvSpPr/>
      </dsp:nvSpPr>
      <dsp:spPr>
        <a:xfrm>
          <a:off x="748180" y="1622478"/>
          <a:ext cx="7664298" cy="647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56" tIns="68556" rIns="68556" bIns="685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TLS/DTLS encrypts data transmission between devices, edge nodes and cloud platforms </a:t>
          </a:r>
          <a:endParaRPr lang="en-US" sz="1600" kern="1200"/>
        </a:p>
      </dsp:txBody>
      <dsp:txXfrm>
        <a:off x="748180" y="1622478"/>
        <a:ext cx="7664298" cy="647774"/>
      </dsp:txXfrm>
    </dsp:sp>
    <dsp:sp modelId="{0DF87303-FBCE-4DB0-904A-7DEFA300638F}">
      <dsp:nvSpPr>
        <dsp:cNvPr id="0" name=""/>
        <dsp:cNvSpPr/>
      </dsp:nvSpPr>
      <dsp:spPr>
        <a:xfrm>
          <a:off x="0" y="2432197"/>
          <a:ext cx="8412479" cy="6477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3ACEEF-483E-44DA-8093-C13EB61641CC}">
      <dsp:nvSpPr>
        <dsp:cNvPr id="0" name=""/>
        <dsp:cNvSpPr/>
      </dsp:nvSpPr>
      <dsp:spPr>
        <a:xfrm>
          <a:off x="195951" y="2577946"/>
          <a:ext cx="356276" cy="3562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184B99-8E14-419D-9A5E-EE67EBD64729}">
      <dsp:nvSpPr>
        <dsp:cNvPr id="0" name=""/>
        <dsp:cNvSpPr/>
      </dsp:nvSpPr>
      <dsp:spPr>
        <a:xfrm>
          <a:off x="748180" y="2432197"/>
          <a:ext cx="7664298" cy="647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56" tIns="68556" rIns="68556" bIns="685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OPC-UA offers reliable communication with built-in role-based access control </a:t>
          </a:r>
          <a:endParaRPr lang="en-US" sz="1600" kern="1200"/>
        </a:p>
      </dsp:txBody>
      <dsp:txXfrm>
        <a:off x="748180" y="2432197"/>
        <a:ext cx="7664298" cy="647774"/>
      </dsp:txXfrm>
    </dsp:sp>
    <dsp:sp modelId="{96502EA7-F98D-48E8-A71F-3303AEEF4866}">
      <dsp:nvSpPr>
        <dsp:cNvPr id="0" name=""/>
        <dsp:cNvSpPr/>
      </dsp:nvSpPr>
      <dsp:spPr>
        <a:xfrm>
          <a:off x="0" y="3241915"/>
          <a:ext cx="8412479" cy="6477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40092B-F1CC-4264-9DB1-13FC80059A89}">
      <dsp:nvSpPr>
        <dsp:cNvPr id="0" name=""/>
        <dsp:cNvSpPr/>
      </dsp:nvSpPr>
      <dsp:spPr>
        <a:xfrm>
          <a:off x="195951" y="3387665"/>
          <a:ext cx="356276" cy="3562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6A9881-237A-4B0F-AF2E-72F6F46B9B1E}">
      <dsp:nvSpPr>
        <dsp:cNvPr id="0" name=""/>
        <dsp:cNvSpPr/>
      </dsp:nvSpPr>
      <dsp:spPr>
        <a:xfrm>
          <a:off x="748180" y="3241915"/>
          <a:ext cx="7664298" cy="647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56" tIns="68556" rIns="68556" bIns="685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VPN paired with MFA prevents eavesdropping and MITM attacks on industrial networks </a:t>
          </a:r>
          <a:endParaRPr lang="en-US" sz="1600" kern="1200"/>
        </a:p>
      </dsp:txBody>
      <dsp:txXfrm>
        <a:off x="748180" y="3241915"/>
        <a:ext cx="7664298" cy="6477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76DEA-0913-40BE-83F2-F5D1B3DF718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C04EED-5752-4010-A828-10915F156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34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CF906A-8D2C-48BD-9C59-0DA83E7695A9}" type="slidenum"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88628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>
              <a:ea typeface="Calibri"/>
              <a:cs typeface="Calibri"/>
            </a:endParaRP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CF906A-8D2C-48BD-9C59-0DA83E7695A9}" type="slidenum">
              <a:rPr lang="tr-TR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14045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ockwellautomation.com/en-gb/capabilities/industrial-cybersecurity/products-services/network-security.htm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oenixcontact.com/de-de/industrien/industrial-security/iec-62443-norm-industrielle-cyber-security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triovega.com/en/blog/cyber-resilience-act-new-challenges-in-the-development-of-connected-products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formatik.tu-darmstadt.de/cns/" TargetMode="Externa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oenixcontact.com/de-de/industrien/industrial-security/iec-62443-norm-industrielle-cyber-security" TargetMode="External"/><Relationship Id="rId2" Type="http://schemas.openxmlformats.org/officeDocument/2006/relationships/hyperlink" Target="https://www.rockwellautomation.com/en-gb/capabilities/industrial-cybersecurity/products-services/network-security.html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informatik.tu-darmstadt.de/cns/" TargetMode="External"/><Relationship Id="rId4" Type="http://schemas.openxmlformats.org/officeDocument/2006/relationships/hyperlink" Target="https://triovega.com/en/blog/cyber-resilience-act-new-challenges-in-the-development-of-connected-product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400" noProof="0" dirty="0">
                <a:solidFill>
                  <a:srgbClr val="35C8C2"/>
                </a:solidFill>
                <a:latin typeface="Aptos"/>
              </a:rPr>
              <a:t>IEEE seminar paper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87552"/>
            <a:ext cx="8961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100" b="1" noProof="0" dirty="0">
                <a:solidFill>
                  <a:srgbClr val="182D4A"/>
                </a:solidFill>
                <a:latin typeface="Aptos Display"/>
              </a:rPr>
              <a:t>Industrial Network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09492" y="1490472"/>
            <a:ext cx="4634378" cy="45719"/>
          </a:xfrm>
          <a:prstGeom prst="rect">
            <a:avLst/>
          </a:prstGeom>
          <a:solidFill>
            <a:srgbClr val="35C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5074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500" noProof="0" dirty="0">
                <a:solidFill>
                  <a:srgbClr val="182D4A"/>
                </a:solidFill>
                <a:latin typeface="Aptos"/>
              </a:rPr>
              <a:t>Andrey Sysoev  •  Sadim Rahman Badhan  •  Md Mamun Hossain  •  Umut Karakaya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200" noProof="0" dirty="0">
                <a:solidFill>
                  <a:srgbClr val="697380"/>
                </a:solidFill>
                <a:latin typeface="Aptos"/>
              </a:rPr>
              <a:t>Hamm-Lippstadt University of Applied Sciences (HSHL)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217920"/>
            <a:ext cx="11064240" cy="9144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10972800" y="627278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300" b="1" noProof="0" dirty="0">
                <a:solidFill>
                  <a:srgbClr val="182D4A"/>
                </a:solidFill>
                <a:latin typeface="Aptos"/>
              </a:rPr>
              <a:t>1</a:t>
            </a:r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E7193810-F5A0-51E7-866A-D236A741B04B}"/>
              </a:ext>
            </a:extLst>
          </p:cNvPr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BD4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16" name="Рисунок 15" descr="Young Diverse Team of Automotive Engineers Working in Office at Car Factory. Industrial Designer Talks About Electric Engine Parts with Colleagues, Discussing Different Technological Applications.">
            <a:extLst>
              <a:ext uri="{FF2B5EF4-FFF2-40B4-BE49-F238E27FC236}">
                <a16:creationId xmlns:a16="http://schemas.microsoft.com/office/drawing/2014/main" id="{73415573-1E52-F377-E0CD-749085F55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22028"/>
            <a:ext cx="5731161" cy="32237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01AC3D1-0FC5-ECEA-4547-04D52B1EA859}"/>
              </a:ext>
            </a:extLst>
          </p:cNvPr>
          <p:cNvSpPr txBox="1"/>
          <p:nvPr/>
        </p:nvSpPr>
        <p:spPr>
          <a:xfrm>
            <a:off x="6096000" y="4638341"/>
            <a:ext cx="60995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u="sng" noProof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Image Source: </a:t>
            </a:r>
            <a:r>
              <a:rPr lang="en-US" sz="800" b="1" u="sng" noProof="0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RockWell</a:t>
            </a:r>
            <a:r>
              <a:rPr lang="en-US" sz="800" b="1" u="sng" noProof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Automation</a:t>
            </a:r>
            <a:endParaRPr lang="en-US" sz="800" b="1" u="sng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922065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l"/>
            <a:r>
              <a:rPr sz="2400" b="1">
                <a:solidFill>
                  <a:srgbClr val="182D4A"/>
                </a:solidFill>
                <a:latin typeface="Aptos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965960" cy="27432"/>
          </a:xfrm>
          <a:prstGeom prst="rect">
            <a:avLst/>
          </a:prstGeom>
          <a:solidFill>
            <a:srgbClr val="35C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6217920"/>
            <a:ext cx="11064240" cy="9144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291072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97380"/>
                </a:solidFill>
                <a:latin typeface="Aptos"/>
              </a:rPr>
              <a:t>Responsible: Umut Karakaya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27278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82D4A"/>
                </a:solidFill>
                <a:latin typeface="Aptos"/>
              </a:rPr>
              <a:t>2</a:t>
            </a: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22A1C9A9-FB57-3DE3-E635-25A7913D9EA9}"/>
              </a:ext>
            </a:extLst>
          </p:cNvPr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BD4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Intro Lead"/>
          <p:cNvSpPr txBox="1"/>
          <p:nvPr/>
        </p:nvSpPr>
        <p:spPr>
          <a:xfrm>
            <a:off x="731520" y="1280000"/>
            <a:ext cx="10728960" cy="11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1500" dirty="0">
                <a:solidFill>
                  <a:srgbClr val="404B5A"/>
                </a:solidFill>
                <a:latin typeface="Aptos"/>
              </a:rPr>
              <a:t>Industrial communication systems connect PLCs, HMIs, SCADA systems, sensors and actuators to exchange process data and control commands.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lang="en-US" sz="1500" dirty="0">
                <a:solidFill>
                  <a:srgbClr val="404B5A"/>
                </a:solidFill>
                <a:latin typeface="Aptos"/>
              </a:rPr>
              <a:t>These networks are becoming more connected to enterprise IT and IIoT applications. This improves monitoring and flexibility, with the cost of increasing exposure to cyber threats.</a:t>
            </a:r>
          </a:p>
        </p:txBody>
      </p:sp>
      <p:sp>
        <p:nvSpPr>
          <p:cNvPr id="110" name="Goals Header"/>
          <p:cNvSpPr txBox="1"/>
          <p:nvPr/>
        </p:nvSpPr>
        <p:spPr>
          <a:xfrm>
            <a:off x="782320" y="2754514"/>
            <a:ext cx="4700000" cy="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500" b="1" dirty="0">
                <a:solidFill>
                  <a:srgbClr val="182D4A"/>
                </a:solidFill>
                <a:latin typeface="Aptos"/>
              </a:rPr>
              <a:t>Goals: keep communication</a:t>
            </a:r>
          </a:p>
        </p:txBody>
      </p:sp>
      <p:sp>
        <p:nvSpPr>
          <p:cNvPr id="111" name="Goals Underline"/>
          <p:cNvSpPr/>
          <p:nvPr/>
        </p:nvSpPr>
        <p:spPr>
          <a:xfrm>
            <a:off x="782320" y="3114514"/>
            <a:ext cx="900000" cy="18288"/>
          </a:xfrm>
          <a:prstGeom prst="rect">
            <a:avLst/>
          </a:prstGeom>
          <a:solidFill>
            <a:srgbClr val="182D4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Goals List"/>
          <p:cNvSpPr txBox="1"/>
          <p:nvPr/>
        </p:nvSpPr>
        <p:spPr>
          <a:xfrm>
            <a:off x="782320" y="3274514"/>
            <a:ext cx="4700000" cy="11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228600" indent="-228600" algn="l">
              <a:lnSpc>
                <a:spcPct val="150000"/>
              </a:lnSpc>
              <a:buFont typeface="Arial"/>
              <a:buChar char="▪"/>
            </a:pPr>
            <a:r>
              <a:rPr lang="en-US" sz="1500" dirty="0">
                <a:solidFill>
                  <a:srgbClr val="404B5A"/>
                </a:solidFill>
                <a:latin typeface="Aptos"/>
              </a:rPr>
              <a:t>Available</a:t>
            </a:r>
          </a:p>
          <a:p>
            <a:pPr marL="228600" indent="-228600" algn="l">
              <a:lnSpc>
                <a:spcPct val="150000"/>
              </a:lnSpc>
              <a:buFont typeface="Arial"/>
              <a:buChar char="▪"/>
            </a:pPr>
            <a:r>
              <a:rPr lang="en-US" sz="1500" dirty="0">
                <a:solidFill>
                  <a:srgbClr val="404B5A"/>
                </a:solidFill>
                <a:latin typeface="Aptos"/>
              </a:rPr>
              <a:t>Correct</a:t>
            </a:r>
          </a:p>
          <a:p>
            <a:pPr marL="228600" indent="-228600" algn="l">
              <a:lnSpc>
                <a:spcPct val="150000"/>
              </a:lnSpc>
              <a:buFont typeface="Arial"/>
              <a:buChar char="▪"/>
            </a:pPr>
            <a:r>
              <a:rPr lang="en-US" sz="1500" dirty="0">
                <a:solidFill>
                  <a:srgbClr val="404B5A"/>
                </a:solidFill>
                <a:latin typeface="Aptos"/>
              </a:rPr>
              <a:t>Predictable</a:t>
            </a:r>
          </a:p>
        </p:txBody>
      </p:sp>
      <p:sp>
        <p:nvSpPr>
          <p:cNvPr id="140" name="Consequence Bar"/>
          <p:cNvSpPr/>
          <p:nvPr/>
        </p:nvSpPr>
        <p:spPr>
          <a:xfrm>
            <a:off x="579120" y="4741429"/>
            <a:ext cx="54864" cy="1130000"/>
          </a:xfrm>
          <a:prstGeom prst="rect">
            <a:avLst/>
          </a:prstGeom>
          <a:solidFill>
            <a:srgbClr val="35C8C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Consequence Text"/>
          <p:cNvSpPr txBox="1"/>
          <p:nvPr/>
        </p:nvSpPr>
        <p:spPr>
          <a:xfrm>
            <a:off x="747600" y="4756429"/>
            <a:ext cx="10560000" cy="1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1600" b="1" dirty="0">
                <a:solidFill>
                  <a:srgbClr val="182D4A"/>
                </a:solidFill>
                <a:latin typeface="Aptos"/>
              </a:rPr>
              <a:t>Consequences of an incident: </a:t>
            </a:r>
            <a:r>
              <a:rPr lang="en-US" sz="1500" dirty="0">
                <a:solidFill>
                  <a:srgbClr val="404B5A"/>
                </a:solidFill>
                <a:latin typeface="Aptos"/>
              </a:rPr>
              <a:t>delayed commands, lost monitoring, stopped production, safety risk.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lang="en-US" sz="1600" dirty="0">
                <a:solidFill>
                  <a:srgbClr val="404B5A"/>
                </a:solidFill>
                <a:latin typeface="Aptos"/>
              </a:rPr>
              <a:t>Office IT downtime usually disrupts digital services, while downtime in industrial networks can directly affect machines, production processes and safety.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3452676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l"/>
            <a:r>
              <a:rPr sz="2400" b="1">
                <a:solidFill>
                  <a:srgbClr val="182D4A"/>
                </a:solidFill>
                <a:latin typeface="Aptos"/>
              </a:rPr>
              <a:t>Denial-of-Service (DoS)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965960" cy="27432"/>
          </a:xfrm>
          <a:prstGeom prst="rect">
            <a:avLst/>
          </a:prstGeom>
          <a:solidFill>
            <a:srgbClr val="35C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6217920"/>
            <a:ext cx="11064240" cy="9144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291072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97380"/>
                </a:solidFill>
                <a:latin typeface="Aptos"/>
              </a:rPr>
              <a:t>Responsible: Umut Karakaya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006" y="6272784"/>
            <a:ext cx="274434" cy="29238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r"/>
            <a:r>
              <a:rPr lang="tr-TR" sz="1300" b="1">
                <a:solidFill>
                  <a:srgbClr val="182D4A"/>
                </a:solidFill>
                <a:latin typeface="Aptos"/>
              </a:rPr>
              <a:t>3</a:t>
            </a:r>
            <a:endParaRPr sz="1300" b="1">
              <a:solidFill>
                <a:srgbClr val="182D4A"/>
              </a:solidFill>
              <a:latin typeface="Aptos"/>
            </a:endParaRP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C89F5812-242E-BD71-8D20-E9CD33565FD9}"/>
              </a:ext>
            </a:extLst>
          </p:cNvPr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BD4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Definition Bar"/>
          <p:cNvSpPr/>
          <p:nvPr/>
        </p:nvSpPr>
        <p:spPr>
          <a:xfrm>
            <a:off x="731520" y="1340000"/>
            <a:ext cx="54864" cy="900000"/>
          </a:xfrm>
          <a:prstGeom prst="rect">
            <a:avLst/>
          </a:prstGeom>
          <a:solidFill>
            <a:srgbClr val="35C8C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Definition Text"/>
          <p:cNvSpPr txBox="1"/>
          <p:nvPr/>
        </p:nvSpPr>
        <p:spPr>
          <a:xfrm>
            <a:off x="931520" y="1350000"/>
            <a:ext cx="10528960" cy="8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1600" b="1" dirty="0">
                <a:solidFill>
                  <a:srgbClr val="182D4A"/>
                </a:solidFill>
                <a:latin typeface="Aptos"/>
              </a:rPr>
              <a:t>What is DoS?: </a:t>
            </a:r>
            <a:r>
              <a:rPr lang="en-US" sz="1600" dirty="0">
                <a:solidFill>
                  <a:srgbClr val="404B5A"/>
                </a:solidFill>
                <a:latin typeface="Aptos"/>
              </a:rPr>
              <a:t>A Denial-of-Service attack aims to make a network service or communication path unavailable for legitimate devices. This causes delays, blocked communication and complete service interruption between industrial devices.</a:t>
            </a:r>
          </a:p>
        </p:txBody>
      </p:sp>
      <p:sp>
        <p:nvSpPr>
          <p:cNvPr id="110" name="Goals Header"/>
          <p:cNvSpPr txBox="1"/>
          <p:nvPr/>
        </p:nvSpPr>
        <p:spPr>
          <a:xfrm>
            <a:off x="731520" y="2860000"/>
            <a:ext cx="4950000" cy="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500" b="1" dirty="0">
                <a:solidFill>
                  <a:srgbClr val="182D4A"/>
                </a:solidFill>
                <a:latin typeface="Aptos"/>
              </a:rPr>
              <a:t>The attacker's goals are:</a:t>
            </a:r>
          </a:p>
        </p:txBody>
      </p:sp>
      <p:sp>
        <p:nvSpPr>
          <p:cNvPr id="111" name="Goals Underline"/>
          <p:cNvSpPr/>
          <p:nvPr/>
        </p:nvSpPr>
        <p:spPr>
          <a:xfrm>
            <a:off x="731520" y="3220000"/>
            <a:ext cx="900000" cy="18288"/>
          </a:xfrm>
          <a:prstGeom prst="rect">
            <a:avLst/>
          </a:prstGeom>
          <a:solidFill>
            <a:srgbClr val="182D4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Goals List"/>
          <p:cNvSpPr txBox="1"/>
          <p:nvPr/>
        </p:nvSpPr>
        <p:spPr>
          <a:xfrm>
            <a:off x="731520" y="3380000"/>
            <a:ext cx="5050000" cy="17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228600" indent="-228600" algn="l">
              <a:lnSpc>
                <a:spcPct val="185000"/>
              </a:lnSpc>
              <a:buFont typeface="Arial"/>
              <a:buChar char="▪"/>
            </a:pPr>
            <a:r>
              <a:rPr lang="en-US" sz="1500" dirty="0">
                <a:solidFill>
                  <a:srgbClr val="404B5A"/>
                </a:solidFill>
                <a:latin typeface="Aptos"/>
              </a:rPr>
              <a:t>Stopping production</a:t>
            </a:r>
          </a:p>
          <a:p>
            <a:pPr marL="228600" indent="-228600" algn="l">
              <a:lnSpc>
                <a:spcPct val="185000"/>
              </a:lnSpc>
              <a:buFont typeface="Arial"/>
              <a:buChar char="▪"/>
            </a:pPr>
            <a:r>
              <a:rPr lang="en-US" sz="1500" dirty="0">
                <a:solidFill>
                  <a:srgbClr val="404B5A"/>
                </a:solidFill>
                <a:latin typeface="Aptos"/>
              </a:rPr>
              <a:t>Disturbing monitoring</a:t>
            </a:r>
          </a:p>
          <a:p>
            <a:pPr marL="228600" indent="-228600" algn="l">
              <a:lnSpc>
                <a:spcPct val="185000"/>
              </a:lnSpc>
              <a:buFont typeface="Arial"/>
              <a:buChar char="▪"/>
            </a:pPr>
            <a:r>
              <a:rPr lang="en-US" sz="1500" dirty="0">
                <a:solidFill>
                  <a:srgbClr val="404B5A"/>
                </a:solidFill>
                <a:latin typeface="Aptos"/>
              </a:rPr>
              <a:t>Delaying control commands</a:t>
            </a:r>
          </a:p>
          <a:p>
            <a:pPr marL="228600" indent="-228600" algn="l">
              <a:lnSpc>
                <a:spcPct val="185000"/>
              </a:lnSpc>
              <a:buFont typeface="Arial"/>
              <a:buChar char="▪"/>
            </a:pPr>
            <a:r>
              <a:rPr lang="en-US" sz="1500" dirty="0">
                <a:solidFill>
                  <a:srgbClr val="404B5A"/>
                </a:solidFill>
                <a:latin typeface="Aptos"/>
              </a:rPr>
              <a:t>Forcing the system into an unstable state</a:t>
            </a:r>
          </a:p>
        </p:txBody>
      </p:sp>
      <p:pic>
        <p:nvPicPr>
          <p:cNvPr id="10" name="Resim 9" descr="metin, ekran görüntüsü, diyagra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98B3DFD-5C9B-7A1B-D683-66D20083B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015" y="2242457"/>
            <a:ext cx="5808487" cy="3280229"/>
          </a:xfrm>
          <a:prstGeom prst="rect">
            <a:avLst/>
          </a:prstGeom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2DB272A9-D1DF-4B11-CA38-6E4B8821796F}"/>
              </a:ext>
            </a:extLst>
          </p:cNvPr>
          <p:cNvSpPr txBox="1"/>
          <p:nvPr/>
        </p:nvSpPr>
        <p:spPr>
          <a:xfrm>
            <a:off x="5682343" y="5511800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200" b="0" i="0" u="none" strike="noStrike" dirty="0">
                <a:solidFill>
                  <a:srgbClr val="000000"/>
                </a:solidFill>
                <a:latin typeface="Calibri"/>
              </a:rPr>
              <a:t>Image Source: UpGuard, “What is a DDoS Attack? How they Work + Protection Strategies,” 2025.</a:t>
            </a:r>
            <a:endParaRPr lang="tr-TR" sz="1200" dirty="0">
              <a:ea typeface="Calibri"/>
              <a:cs typeface="Calibri"/>
            </a:endParaRPr>
          </a:p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70206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8BD57-128C-2347-3770-8CE4BA795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759CD6-B1FA-3652-85B3-610EACC6169B}"/>
              </a:ext>
            </a:extLst>
          </p:cNvPr>
          <p:cNvSpPr txBox="1"/>
          <p:nvPr/>
        </p:nvSpPr>
        <p:spPr>
          <a:xfrm>
            <a:off x="731520" y="502920"/>
            <a:ext cx="4581062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400" b="1">
                <a:solidFill>
                  <a:srgbClr val="182D4A"/>
                </a:solidFill>
                <a:latin typeface="Aptos"/>
              </a:rPr>
              <a:t>Denial-of-Service (DoS)</a:t>
            </a:r>
            <a:r>
              <a:rPr lang="tr-TR" sz="2400" b="1">
                <a:solidFill>
                  <a:srgbClr val="182D4A"/>
                </a:solidFill>
                <a:latin typeface="Aptos"/>
              </a:rPr>
              <a:t> Attacks</a:t>
            </a:r>
            <a:endParaRPr sz="2400" b="1">
              <a:solidFill>
                <a:srgbClr val="182D4A"/>
              </a:solidFill>
              <a:latin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FFFDFC-2D81-1015-05BC-4F147DF3718D}"/>
              </a:ext>
            </a:extLst>
          </p:cNvPr>
          <p:cNvSpPr/>
          <p:nvPr/>
        </p:nvSpPr>
        <p:spPr>
          <a:xfrm>
            <a:off x="731520" y="1170432"/>
            <a:ext cx="1965960" cy="27432"/>
          </a:xfrm>
          <a:prstGeom prst="rect">
            <a:avLst/>
          </a:prstGeom>
          <a:solidFill>
            <a:srgbClr val="35C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D27D2A-7B47-45F6-EF85-3E77ED53A263}"/>
              </a:ext>
            </a:extLst>
          </p:cNvPr>
          <p:cNvSpPr/>
          <p:nvPr/>
        </p:nvSpPr>
        <p:spPr>
          <a:xfrm>
            <a:off x="548640" y="6217920"/>
            <a:ext cx="11064240" cy="9144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530CEE-EDD3-47DB-637C-65FFB58A132D}"/>
              </a:ext>
            </a:extLst>
          </p:cNvPr>
          <p:cNvSpPr txBox="1"/>
          <p:nvPr/>
        </p:nvSpPr>
        <p:spPr>
          <a:xfrm>
            <a:off x="594360" y="6291072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97380"/>
                </a:solidFill>
                <a:latin typeface="Aptos"/>
              </a:rPr>
              <a:t>Responsible: Umut Karakaya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443978-91A0-254C-EAB9-2AFEC5C032C5}"/>
              </a:ext>
            </a:extLst>
          </p:cNvPr>
          <p:cNvSpPr txBox="1"/>
          <p:nvPr/>
        </p:nvSpPr>
        <p:spPr>
          <a:xfrm>
            <a:off x="11247006" y="6272784"/>
            <a:ext cx="274434" cy="29238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r"/>
            <a:r>
              <a:rPr lang="tr-TR" sz="1300" b="1">
                <a:solidFill>
                  <a:srgbClr val="182D4A"/>
                </a:solidFill>
                <a:latin typeface="Aptos"/>
              </a:rPr>
              <a:t>4</a:t>
            </a:r>
            <a:endParaRPr sz="1300" b="1">
              <a:solidFill>
                <a:srgbClr val="182D4A"/>
              </a:solidFill>
              <a:latin typeface="Aptos"/>
            </a:endParaRP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129843ED-3585-FF7B-D721-6BAF83C8658B}"/>
              </a:ext>
            </a:extLst>
          </p:cNvPr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BD4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Definition Bar">
            <a:extLst>
              <a:ext uri="{FF2B5EF4-FFF2-40B4-BE49-F238E27FC236}">
                <a16:creationId xmlns:a16="http://schemas.microsoft.com/office/drawing/2014/main" id="{558DD982-27F7-DB6D-F02B-FCDB98C1A4FC}"/>
              </a:ext>
            </a:extLst>
          </p:cNvPr>
          <p:cNvSpPr/>
          <p:nvPr/>
        </p:nvSpPr>
        <p:spPr>
          <a:xfrm>
            <a:off x="731520" y="1450000"/>
            <a:ext cx="54864" cy="800000"/>
          </a:xfrm>
          <a:prstGeom prst="rect">
            <a:avLst/>
          </a:prstGeom>
          <a:solidFill>
            <a:srgbClr val="35C8C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Cause Header">
            <a:extLst>
              <a:ext uri="{FF2B5EF4-FFF2-40B4-BE49-F238E27FC236}">
                <a16:creationId xmlns:a16="http://schemas.microsoft.com/office/drawing/2014/main" id="{50D409A1-4598-B07D-FDC0-DEB3D6A6205F}"/>
              </a:ext>
            </a:extLst>
          </p:cNvPr>
          <p:cNvSpPr txBox="1"/>
          <p:nvPr/>
        </p:nvSpPr>
        <p:spPr>
          <a:xfrm>
            <a:off x="869406" y="1362229"/>
            <a:ext cx="5227320" cy="42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sz="1500" b="1">
                <a:solidFill>
                  <a:srgbClr val="182D4A"/>
                </a:solidFill>
                <a:latin typeface="Aptos"/>
              </a:rPr>
              <a:t>How It Happens</a:t>
            </a:r>
          </a:p>
        </p:txBody>
      </p:sp>
      <p:sp>
        <p:nvSpPr>
          <p:cNvPr id="103" name="Cause Underline">
            <a:extLst>
              <a:ext uri="{FF2B5EF4-FFF2-40B4-BE49-F238E27FC236}">
                <a16:creationId xmlns:a16="http://schemas.microsoft.com/office/drawing/2014/main" id="{735D4F37-95A9-A78E-9657-603DEB5A7149}"/>
              </a:ext>
            </a:extLst>
          </p:cNvPr>
          <p:cNvSpPr/>
          <p:nvPr/>
        </p:nvSpPr>
        <p:spPr>
          <a:xfrm>
            <a:off x="869406" y="1812229"/>
            <a:ext cx="900000" cy="18288"/>
          </a:xfrm>
          <a:prstGeom prst="rect">
            <a:avLst/>
          </a:prstGeom>
          <a:solidFill>
            <a:srgbClr val="35C8C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Cause List">
            <a:extLst>
              <a:ext uri="{FF2B5EF4-FFF2-40B4-BE49-F238E27FC236}">
                <a16:creationId xmlns:a16="http://schemas.microsoft.com/office/drawing/2014/main" id="{3BE734B3-AF77-3E00-61D4-BE8884321103}"/>
              </a:ext>
            </a:extLst>
          </p:cNvPr>
          <p:cNvSpPr txBox="1"/>
          <p:nvPr/>
        </p:nvSpPr>
        <p:spPr>
          <a:xfrm>
            <a:off x="869406" y="1972229"/>
            <a:ext cx="5227320" cy="12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228600" indent="-228600" algn="l">
              <a:lnSpc>
                <a:spcPct val="130000"/>
              </a:lnSpc>
              <a:buFont typeface="Arial"/>
              <a:buChar char="▪"/>
            </a:pPr>
            <a:r>
              <a:rPr sz="1500">
                <a:solidFill>
                  <a:srgbClr val="404B5A"/>
                </a:solidFill>
                <a:latin typeface="Aptos"/>
              </a:rPr>
              <a:t>Rogue nodes or compromised devices flood the network</a:t>
            </a:r>
            <a:endParaRPr lang="tr-TR" sz="1500">
              <a:ea typeface="Calibri"/>
              <a:cs typeface="Calibri"/>
            </a:endParaRPr>
          </a:p>
          <a:p>
            <a:pPr marL="228600" indent="-228600">
              <a:lnSpc>
                <a:spcPct val="130000"/>
              </a:lnSpc>
              <a:buFont typeface="Arial"/>
              <a:buChar char="▪"/>
            </a:pPr>
            <a:r>
              <a:rPr lang="tr-TR" sz="1500">
                <a:solidFill>
                  <a:srgbClr val="404B5A"/>
                </a:solidFill>
                <a:latin typeface="Aptos"/>
              </a:rPr>
              <a:t>Occupies bandwidth, switches, processing capacity</a:t>
            </a:r>
            <a:endParaRPr sz="1500">
              <a:solidFill>
                <a:srgbClr val="404B5A"/>
              </a:solidFill>
              <a:latin typeface="Aptos"/>
            </a:endParaRPr>
          </a:p>
          <a:p>
            <a:pPr marL="228600" indent="-228600">
              <a:lnSpc>
                <a:spcPct val="130000"/>
              </a:lnSpc>
              <a:buFont typeface="Arial"/>
              <a:buChar char="▪"/>
            </a:pPr>
            <a:r>
              <a:rPr sz="1500">
                <a:solidFill>
                  <a:srgbClr val="404B5A"/>
                </a:solidFill>
                <a:latin typeface="Aptos"/>
              </a:rPr>
              <a:t>Legitimate PLC / HMI / SCADA traffic is </a:t>
            </a:r>
            <a:r>
              <a:rPr lang="tr-TR" sz="1500">
                <a:solidFill>
                  <a:srgbClr val="404B5A"/>
                </a:solidFill>
                <a:latin typeface="Aptos"/>
              </a:rPr>
              <a:t>delayed or blocked</a:t>
            </a:r>
          </a:p>
        </p:txBody>
      </p:sp>
      <p:sp>
        <p:nvSpPr>
          <p:cNvPr id="105" name="Impact Header">
            <a:extLst>
              <a:ext uri="{FF2B5EF4-FFF2-40B4-BE49-F238E27FC236}">
                <a16:creationId xmlns:a16="http://schemas.microsoft.com/office/drawing/2014/main" id="{80FB0628-21E3-5553-8860-7C7848BC899E}"/>
              </a:ext>
            </a:extLst>
          </p:cNvPr>
          <p:cNvSpPr txBox="1"/>
          <p:nvPr/>
        </p:nvSpPr>
        <p:spPr>
          <a:xfrm>
            <a:off x="6625046" y="1325943"/>
            <a:ext cx="5227320" cy="42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r>
              <a:rPr sz="1500" b="1">
                <a:solidFill>
                  <a:srgbClr val="182D4A"/>
                </a:solidFill>
                <a:latin typeface="Aptos"/>
              </a:rPr>
              <a:t>Impact on </a:t>
            </a:r>
            <a:r>
              <a:rPr lang="tr-TR" sz="1500" b="1">
                <a:solidFill>
                  <a:srgbClr val="182D4A"/>
                </a:solidFill>
                <a:latin typeface="Aptos"/>
              </a:rPr>
              <a:t>Industrial Operation</a:t>
            </a:r>
            <a:endParaRPr sz="1500" b="1">
              <a:solidFill>
                <a:srgbClr val="182D4A"/>
              </a:solidFill>
              <a:latin typeface="Aptos"/>
            </a:endParaRPr>
          </a:p>
        </p:txBody>
      </p:sp>
      <p:sp>
        <p:nvSpPr>
          <p:cNvPr id="106" name="Impact Underline">
            <a:extLst>
              <a:ext uri="{FF2B5EF4-FFF2-40B4-BE49-F238E27FC236}">
                <a16:creationId xmlns:a16="http://schemas.microsoft.com/office/drawing/2014/main" id="{3501658D-A70D-09B3-3B07-2CF401AB2E44}"/>
              </a:ext>
            </a:extLst>
          </p:cNvPr>
          <p:cNvSpPr/>
          <p:nvPr/>
        </p:nvSpPr>
        <p:spPr>
          <a:xfrm>
            <a:off x="6625046" y="1775943"/>
            <a:ext cx="900000" cy="18288"/>
          </a:xfrm>
          <a:prstGeom prst="rect">
            <a:avLst/>
          </a:prstGeom>
          <a:solidFill>
            <a:srgbClr val="182D4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Impact List">
            <a:extLst>
              <a:ext uri="{FF2B5EF4-FFF2-40B4-BE49-F238E27FC236}">
                <a16:creationId xmlns:a16="http://schemas.microsoft.com/office/drawing/2014/main" id="{B7B78501-44DE-38C2-1A80-C38D7A707A0F}"/>
              </a:ext>
            </a:extLst>
          </p:cNvPr>
          <p:cNvSpPr txBox="1"/>
          <p:nvPr/>
        </p:nvSpPr>
        <p:spPr>
          <a:xfrm>
            <a:off x="6625046" y="1935943"/>
            <a:ext cx="5227320" cy="12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228600" indent="-228600" algn="l">
              <a:lnSpc>
                <a:spcPct val="130000"/>
              </a:lnSpc>
              <a:buFont typeface="Arial"/>
              <a:buChar char="▪"/>
            </a:pPr>
            <a:r>
              <a:rPr sz="1500">
                <a:solidFill>
                  <a:srgbClr val="404B5A"/>
                </a:solidFill>
                <a:latin typeface="Aptos"/>
              </a:rPr>
              <a:t>Time-critical control messages arrive too late</a:t>
            </a:r>
            <a:endParaRPr lang="tr-TR" sz="1500">
              <a:solidFill>
                <a:srgbClr val="404B5A"/>
              </a:solidFill>
              <a:latin typeface="Aptos"/>
            </a:endParaRPr>
          </a:p>
          <a:p>
            <a:pPr marL="228600" indent="-228600" algn="l">
              <a:lnSpc>
                <a:spcPct val="130000"/>
              </a:lnSpc>
              <a:buFont typeface="Arial"/>
              <a:buChar char="▪"/>
            </a:pPr>
            <a:r>
              <a:rPr sz="1500">
                <a:solidFill>
                  <a:srgbClr val="404B5A"/>
                </a:solidFill>
                <a:latin typeface="Aptos"/>
              </a:rPr>
              <a:t>Monitoring data becomes unavailable</a:t>
            </a:r>
          </a:p>
          <a:p>
            <a:pPr marL="228600" indent="-228600" algn="l">
              <a:lnSpc>
                <a:spcPct val="130000"/>
              </a:lnSpc>
              <a:buFont typeface="Arial"/>
              <a:buChar char="▪"/>
            </a:pPr>
            <a:r>
              <a:rPr sz="1500">
                <a:solidFill>
                  <a:srgbClr val="404B5A"/>
                </a:solidFill>
                <a:latin typeface="Aptos"/>
              </a:rPr>
              <a:t>Production may be interrupted</a:t>
            </a:r>
          </a:p>
        </p:txBody>
      </p:sp>
      <p:sp>
        <p:nvSpPr>
          <p:cNvPr id="108" name="Avoid Header">
            <a:extLst>
              <a:ext uri="{FF2B5EF4-FFF2-40B4-BE49-F238E27FC236}">
                <a16:creationId xmlns:a16="http://schemas.microsoft.com/office/drawing/2014/main" id="{2D7D68DE-497C-3F20-5D45-20C849D68253}"/>
              </a:ext>
            </a:extLst>
          </p:cNvPr>
          <p:cNvSpPr txBox="1"/>
          <p:nvPr/>
        </p:nvSpPr>
        <p:spPr>
          <a:xfrm>
            <a:off x="840377" y="3948457"/>
            <a:ext cx="5227320" cy="42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sz="1500" b="1">
                <a:solidFill>
                  <a:srgbClr val="182D4A"/>
                </a:solidFill>
                <a:latin typeface="Aptos"/>
              </a:rPr>
              <a:t>Avoidance</a:t>
            </a:r>
          </a:p>
        </p:txBody>
      </p:sp>
      <p:sp>
        <p:nvSpPr>
          <p:cNvPr id="109" name="Avoid Underline">
            <a:extLst>
              <a:ext uri="{FF2B5EF4-FFF2-40B4-BE49-F238E27FC236}">
                <a16:creationId xmlns:a16="http://schemas.microsoft.com/office/drawing/2014/main" id="{66E1815D-12BB-09AB-CFA1-EB94225A1FF1}"/>
              </a:ext>
            </a:extLst>
          </p:cNvPr>
          <p:cNvSpPr/>
          <p:nvPr/>
        </p:nvSpPr>
        <p:spPr>
          <a:xfrm>
            <a:off x="840377" y="4398457"/>
            <a:ext cx="900000" cy="18288"/>
          </a:xfrm>
          <a:prstGeom prst="rect">
            <a:avLst/>
          </a:prstGeom>
          <a:solidFill>
            <a:srgbClr val="35C8C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Avoid List">
            <a:extLst>
              <a:ext uri="{FF2B5EF4-FFF2-40B4-BE49-F238E27FC236}">
                <a16:creationId xmlns:a16="http://schemas.microsoft.com/office/drawing/2014/main" id="{E2F7E062-400B-641A-A041-2B1E442AB4F5}"/>
              </a:ext>
            </a:extLst>
          </p:cNvPr>
          <p:cNvSpPr txBox="1"/>
          <p:nvPr/>
        </p:nvSpPr>
        <p:spPr>
          <a:xfrm>
            <a:off x="840377" y="4548457"/>
            <a:ext cx="5227320" cy="1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228600" indent="-228600" algn="l">
              <a:lnSpc>
                <a:spcPct val="125000"/>
              </a:lnSpc>
              <a:buFont typeface="Arial"/>
              <a:buChar char="▪"/>
            </a:pPr>
            <a:r>
              <a:rPr sz="1500">
                <a:solidFill>
                  <a:srgbClr val="404B5A"/>
                </a:solidFill>
                <a:latin typeface="Aptos"/>
              </a:rPr>
              <a:t>Network segmentation &amp; security zones</a:t>
            </a:r>
            <a:endParaRPr lang="tr-TR" sz="1500">
              <a:solidFill>
                <a:srgbClr val="404B5A"/>
              </a:solidFill>
              <a:latin typeface="Aptos"/>
            </a:endParaRPr>
          </a:p>
          <a:p>
            <a:pPr marL="228600" indent="-228600" algn="l">
              <a:lnSpc>
                <a:spcPct val="125000"/>
              </a:lnSpc>
              <a:buFont typeface="Arial"/>
              <a:buChar char="▪"/>
            </a:pPr>
            <a:r>
              <a:rPr sz="1500">
                <a:solidFill>
                  <a:srgbClr val="404B5A"/>
                </a:solidFill>
                <a:latin typeface="Aptos"/>
              </a:rPr>
              <a:t>Access control for PLCs / HMIs / SCADA</a:t>
            </a:r>
          </a:p>
          <a:p>
            <a:pPr marL="228600" indent="-228600" algn="l">
              <a:lnSpc>
                <a:spcPct val="125000"/>
              </a:lnSpc>
              <a:buFont typeface="Arial"/>
              <a:buChar char="▪"/>
            </a:pPr>
            <a:r>
              <a:rPr sz="1500">
                <a:solidFill>
                  <a:srgbClr val="404B5A"/>
                </a:solidFill>
                <a:latin typeface="Aptos"/>
              </a:rPr>
              <a:t>Traffic filtering &amp; rate limiting</a:t>
            </a:r>
          </a:p>
        </p:txBody>
      </p:sp>
      <p:sp>
        <p:nvSpPr>
          <p:cNvPr id="111" name="Recover Header">
            <a:extLst>
              <a:ext uri="{FF2B5EF4-FFF2-40B4-BE49-F238E27FC236}">
                <a16:creationId xmlns:a16="http://schemas.microsoft.com/office/drawing/2014/main" id="{1E74A2FF-E0E3-6EC3-6DFE-145422957074}"/>
              </a:ext>
            </a:extLst>
          </p:cNvPr>
          <p:cNvSpPr txBox="1"/>
          <p:nvPr/>
        </p:nvSpPr>
        <p:spPr>
          <a:xfrm>
            <a:off x="6603274" y="3962971"/>
            <a:ext cx="5227320" cy="42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1">
                <a:solidFill>
                  <a:srgbClr val="182D4A"/>
                </a:solidFill>
                <a:latin typeface="Aptos"/>
              </a:rPr>
              <a:t>Detection &amp; Recovery</a:t>
            </a:r>
          </a:p>
        </p:txBody>
      </p:sp>
      <p:sp>
        <p:nvSpPr>
          <p:cNvPr id="112" name="Recover Underline">
            <a:extLst>
              <a:ext uri="{FF2B5EF4-FFF2-40B4-BE49-F238E27FC236}">
                <a16:creationId xmlns:a16="http://schemas.microsoft.com/office/drawing/2014/main" id="{A8C08862-B366-3833-0746-0BC1C3EAA3E8}"/>
              </a:ext>
            </a:extLst>
          </p:cNvPr>
          <p:cNvSpPr/>
          <p:nvPr/>
        </p:nvSpPr>
        <p:spPr>
          <a:xfrm>
            <a:off x="6603274" y="4412971"/>
            <a:ext cx="900000" cy="18288"/>
          </a:xfrm>
          <a:prstGeom prst="rect">
            <a:avLst/>
          </a:prstGeom>
          <a:solidFill>
            <a:srgbClr val="182D4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over List">
            <a:extLst>
              <a:ext uri="{FF2B5EF4-FFF2-40B4-BE49-F238E27FC236}">
                <a16:creationId xmlns:a16="http://schemas.microsoft.com/office/drawing/2014/main" id="{60A456E4-824C-8851-28F6-D0AB181A3502}"/>
              </a:ext>
            </a:extLst>
          </p:cNvPr>
          <p:cNvSpPr txBox="1"/>
          <p:nvPr/>
        </p:nvSpPr>
        <p:spPr>
          <a:xfrm>
            <a:off x="6603274" y="4562971"/>
            <a:ext cx="5227320" cy="1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228600" indent="-228600" algn="l">
              <a:lnSpc>
                <a:spcPct val="125000"/>
              </a:lnSpc>
              <a:buFont typeface="Arial"/>
              <a:buChar char="▪"/>
            </a:pPr>
            <a:r>
              <a:rPr sz="1500">
                <a:solidFill>
                  <a:srgbClr val="404B5A"/>
                </a:solidFill>
                <a:latin typeface="Aptos"/>
              </a:rPr>
              <a:t>Monitor traffic patterns &amp; delays</a:t>
            </a:r>
            <a:endParaRPr lang="tr-TR" sz="1500">
              <a:solidFill>
                <a:srgbClr val="404B5A"/>
              </a:solidFill>
              <a:latin typeface="Aptos"/>
            </a:endParaRPr>
          </a:p>
          <a:p>
            <a:pPr marL="228600" indent="-228600" algn="l">
              <a:lnSpc>
                <a:spcPct val="125000"/>
              </a:lnSpc>
              <a:buFont typeface="Arial"/>
              <a:buChar char="▪"/>
            </a:pPr>
            <a:r>
              <a:rPr sz="1500">
                <a:solidFill>
                  <a:srgbClr val="404B5A"/>
                </a:solidFill>
                <a:latin typeface="Aptos"/>
              </a:rPr>
              <a:t>Isolate the suspicious device</a:t>
            </a:r>
          </a:p>
          <a:p>
            <a:pPr marL="228600" indent="-228600">
              <a:lnSpc>
                <a:spcPct val="125000"/>
              </a:lnSpc>
              <a:buFont typeface="Arial"/>
              <a:buChar char="▪"/>
            </a:pPr>
            <a:r>
              <a:rPr lang="tr-TR" sz="1500">
                <a:solidFill>
                  <a:srgbClr val="404B5A"/>
                </a:solidFill>
                <a:latin typeface="Aptos"/>
              </a:rPr>
              <a:t>Restore communication or switch to safe state</a:t>
            </a:r>
            <a:endParaRPr sz="1500" dirty="0">
              <a:solidFill>
                <a:srgbClr val="404B5A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98975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480" y="533401"/>
            <a:ext cx="8839200" cy="364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182D4A"/>
                </a:solidFill>
                <a:latin typeface="Aptos Bold"/>
                <a:ea typeface="Aptos Bold"/>
                <a:cs typeface="Aptos Bold"/>
                <a:sym typeface="Aptos Bold"/>
              </a:rPr>
              <a:t>Eavesdropping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31520" y="1170432"/>
            <a:ext cx="1965960" cy="27432"/>
            <a:chOff x="0" y="0"/>
            <a:chExt cx="3931920" cy="548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31920" cy="54864"/>
            </a:xfrm>
            <a:custGeom>
              <a:avLst/>
              <a:gdLst/>
              <a:ahLst/>
              <a:cxnLst/>
              <a:rect l="l" t="t" r="r" b="b"/>
              <a:pathLst>
                <a:path w="3931920" h="54864">
                  <a:moveTo>
                    <a:pt x="0" y="0"/>
                  </a:moveTo>
                  <a:lnTo>
                    <a:pt x="3931920" y="0"/>
                  </a:lnTo>
                  <a:lnTo>
                    <a:pt x="3931920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35C8C2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48640" y="6217920"/>
            <a:ext cx="11064240" cy="9144"/>
            <a:chOff x="0" y="0"/>
            <a:chExt cx="22128480" cy="182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28480" cy="18288"/>
            </a:xfrm>
            <a:custGeom>
              <a:avLst/>
              <a:gdLst/>
              <a:ahLst/>
              <a:cxnLst/>
              <a:rect l="l" t="t" r="r" b="b"/>
              <a:pathLst>
                <a:path w="22128480" h="18288">
                  <a:moveTo>
                    <a:pt x="0" y="0"/>
                  </a:moveTo>
                  <a:lnTo>
                    <a:pt x="22128480" y="0"/>
                  </a:lnTo>
                  <a:lnTo>
                    <a:pt x="2212848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E2E7ED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-6350" y="-6350"/>
            <a:ext cx="232156" cy="6870700"/>
            <a:chOff x="0" y="0"/>
            <a:chExt cx="464312" cy="13741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4312" cy="13741400"/>
            </a:xfrm>
            <a:custGeom>
              <a:avLst/>
              <a:gdLst/>
              <a:ahLst/>
              <a:cxnLst/>
              <a:rect l="l" t="t" r="r" b="b"/>
              <a:pathLst>
                <a:path w="464312" h="13741400">
                  <a:moveTo>
                    <a:pt x="0" y="0"/>
                  </a:moveTo>
                  <a:lnTo>
                    <a:pt x="464312" y="0"/>
                  </a:lnTo>
                  <a:lnTo>
                    <a:pt x="464312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2BD4C7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4440325" y="1781131"/>
            <a:ext cx="7174399" cy="3295739"/>
          </a:xfrm>
          <a:custGeom>
            <a:avLst/>
            <a:gdLst/>
            <a:ahLst/>
            <a:cxnLst/>
            <a:rect l="l" t="t" r="r" b="b"/>
            <a:pathLst>
              <a:path w="10761598" h="4943609">
                <a:moveTo>
                  <a:pt x="0" y="0"/>
                </a:moveTo>
                <a:lnTo>
                  <a:pt x="10761599" y="0"/>
                </a:lnTo>
                <a:lnTo>
                  <a:pt x="10761599" y="4943610"/>
                </a:lnTo>
                <a:lnTo>
                  <a:pt x="0" y="4943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55320" y="6321552"/>
            <a:ext cx="7924800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97380"/>
                </a:solidFill>
                <a:latin typeface="Aptos"/>
                <a:ea typeface="Aptos"/>
                <a:cs typeface="Aptos"/>
                <a:sym typeface="Aptos"/>
              </a:rPr>
              <a:t>Responsible: Md Mamun Hossain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33760" y="6303264"/>
            <a:ext cx="426720" cy="200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300" b="1">
                <a:solidFill>
                  <a:srgbClr val="182D4A"/>
                </a:solidFill>
                <a:latin typeface="Aptos Bold"/>
                <a:ea typeface="Aptos Bold"/>
                <a:cs typeface="Aptos Bold"/>
                <a:sym typeface="Aptos Bold"/>
              </a:rPr>
              <a:t>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2480" y="1374395"/>
            <a:ext cx="2991580" cy="5091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55"/>
              </a:lnSpc>
            </a:pPr>
            <a:r>
              <a:rPr lang="en-US" sz="1879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Types of Eavesdropping:</a:t>
            </a:r>
          </a:p>
          <a:p>
            <a:pPr algn="just">
              <a:lnSpc>
                <a:spcPts val="1916"/>
              </a:lnSpc>
            </a:pPr>
            <a:endParaRPr lang="en-US" sz="1879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marL="344830" lvl="1" indent="-172415" algn="just">
              <a:lnSpc>
                <a:spcPts val="1916"/>
              </a:lnSpc>
              <a:buFont typeface="Arial"/>
              <a:buChar char="•"/>
            </a:pPr>
            <a:r>
              <a:rPr lang="en-US" sz="1597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Passive</a:t>
            </a:r>
          </a:p>
          <a:p>
            <a:pPr marL="330114" lvl="1" indent="-165057" algn="just">
              <a:lnSpc>
                <a:spcPts val="1835"/>
              </a:lnSpc>
              <a:buFont typeface="Arial"/>
              <a:buChar char="•"/>
            </a:pPr>
            <a:r>
              <a:rPr lang="en-US" sz="1529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Active</a:t>
            </a:r>
          </a:p>
          <a:p>
            <a:pPr algn="just">
              <a:lnSpc>
                <a:spcPts val="1835"/>
              </a:lnSpc>
            </a:pPr>
            <a:endParaRPr lang="en-US" sz="1529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marL="285750" indent="-285750" algn="just">
              <a:lnSpc>
                <a:spcPts val="1835"/>
              </a:lnSpc>
              <a:buFont typeface="Arial" panose="020B0604020202020204" pitchFamily="34" charset="0"/>
              <a:buChar char="•"/>
            </a:pPr>
            <a:endParaRPr lang="en-US" sz="1529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just">
              <a:lnSpc>
                <a:spcPts val="2244"/>
              </a:lnSpc>
            </a:pPr>
            <a:r>
              <a:rPr lang="en-US" sz="1870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Common Attack Methods:</a:t>
            </a:r>
          </a:p>
          <a:p>
            <a:pPr algn="just">
              <a:lnSpc>
                <a:spcPts val="2244"/>
              </a:lnSpc>
            </a:pPr>
            <a:endParaRPr lang="en-US" sz="1870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marL="330114" lvl="1" indent="-165057" algn="just">
              <a:lnSpc>
                <a:spcPts val="1835"/>
              </a:lnSpc>
              <a:buFont typeface="Arial"/>
              <a:buChar char="•"/>
            </a:pPr>
            <a:r>
              <a:rPr lang="en-US" sz="1529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VoIP interception</a:t>
            </a:r>
          </a:p>
          <a:p>
            <a:pPr marL="330114" lvl="1" indent="-165057" algn="just">
              <a:lnSpc>
                <a:spcPts val="1835"/>
              </a:lnSpc>
              <a:buFont typeface="Arial"/>
              <a:buChar char="•"/>
            </a:pPr>
            <a:r>
              <a:rPr lang="en-US" sz="1529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Bluetooth interception </a:t>
            </a:r>
          </a:p>
          <a:p>
            <a:pPr marL="330114" lvl="1" indent="-165057" algn="just">
              <a:lnSpc>
                <a:spcPts val="1835"/>
              </a:lnSpc>
              <a:buFont typeface="Arial"/>
              <a:buChar char="•"/>
            </a:pPr>
            <a:r>
              <a:rPr lang="en-US" sz="1529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Packet sniffing</a:t>
            </a:r>
          </a:p>
          <a:p>
            <a:pPr algn="just">
              <a:lnSpc>
                <a:spcPts val="1835"/>
              </a:lnSpc>
            </a:pPr>
            <a:endParaRPr lang="en-US" sz="1529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just">
              <a:lnSpc>
                <a:spcPts val="1835"/>
              </a:lnSpc>
            </a:pPr>
            <a:endParaRPr lang="en-US" sz="1529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just">
              <a:lnSpc>
                <a:spcPts val="1835"/>
              </a:lnSpc>
            </a:pPr>
            <a:endParaRPr lang="en-US" sz="1529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just">
              <a:lnSpc>
                <a:spcPts val="2235"/>
              </a:lnSpc>
            </a:pPr>
            <a:r>
              <a:rPr lang="en-US" sz="186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Impact:</a:t>
            </a:r>
          </a:p>
          <a:p>
            <a:pPr marL="330114" lvl="1" indent="-165057" algn="just">
              <a:lnSpc>
                <a:spcPts val="1835"/>
              </a:lnSpc>
              <a:buFont typeface="Arial"/>
              <a:buChar char="•"/>
            </a:pPr>
            <a:r>
              <a:rPr lang="en-US" sz="1529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Leakage of  data</a:t>
            </a:r>
          </a:p>
          <a:p>
            <a:pPr marL="330114" lvl="1" indent="-165057" algn="just">
              <a:lnSpc>
                <a:spcPts val="1835"/>
              </a:lnSpc>
              <a:buFont typeface="Arial"/>
              <a:buChar char="•"/>
            </a:pPr>
            <a:r>
              <a:rPr lang="en-US" sz="1529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Financial losses</a:t>
            </a:r>
          </a:p>
          <a:p>
            <a:pPr marL="330114" lvl="1" indent="-165057" algn="just">
              <a:lnSpc>
                <a:spcPts val="1835"/>
              </a:lnSpc>
              <a:buFont typeface="Arial"/>
              <a:buChar char="•"/>
            </a:pPr>
            <a:r>
              <a:rPr lang="en-US" sz="1529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Loss of customer trust</a:t>
            </a:r>
          </a:p>
          <a:p>
            <a:pPr algn="just">
              <a:lnSpc>
                <a:spcPts val="1835"/>
              </a:lnSpc>
            </a:pPr>
            <a:endParaRPr lang="en-US" sz="1529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just">
              <a:lnSpc>
                <a:spcPts val="1835"/>
              </a:lnSpc>
            </a:pPr>
            <a:endParaRPr lang="en-US" sz="1529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just">
              <a:lnSpc>
                <a:spcPts val="1835"/>
              </a:lnSpc>
            </a:pPr>
            <a:endParaRPr lang="en-US" sz="1529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212080" y="4820017"/>
            <a:ext cx="681754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20"/>
              </a:lnSpc>
              <a:spcBef>
                <a:spcPct val="0"/>
              </a:spcBef>
            </a:pPr>
            <a:r>
              <a:rPr lang="en-US" sz="19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[2]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82D4A"/>
                </a:solidFill>
                <a:latin typeface="Aptos"/>
              </a:rPr>
              <a:t>Man-in-the-Middle (MITM)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965960" cy="27432"/>
          </a:xfrm>
          <a:prstGeom prst="rect">
            <a:avLst/>
          </a:prstGeom>
          <a:solidFill>
            <a:srgbClr val="35C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6217920"/>
            <a:ext cx="11064240" cy="9144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291072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97380"/>
                </a:solidFill>
                <a:latin typeface="Aptos"/>
              </a:rPr>
              <a:t>Responsible: Sadim Rahman Badhan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27278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82D4A"/>
                </a:solidFill>
                <a:latin typeface="Aptos"/>
              </a:rPr>
              <a:t>5</a:t>
            </a: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00374714-DDB1-B6E7-6197-EF7CFD33404E}"/>
              </a:ext>
            </a:extLst>
          </p:cNvPr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BD4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TextBox 3">
            <a:extLst>
              <a:ext uri="{FF2B5EF4-FFF2-40B4-BE49-F238E27FC236}">
                <a16:creationId xmlns:a16="http://schemas.microsoft.com/office/drawing/2014/main" id="{59C7EA70-7EB4-E733-EA3F-1E0063C28D81}"/>
              </a:ext>
            </a:extLst>
          </p:cNvPr>
          <p:cNvGraphicFramePr/>
          <p:nvPr/>
        </p:nvGraphicFramePr>
        <p:xfrm>
          <a:off x="731520" y="1783802"/>
          <a:ext cx="10644338" cy="2750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82D4A"/>
                </a:solidFill>
                <a:latin typeface="Aptos"/>
              </a:rPr>
              <a:t>Network Segmentation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965960" cy="27432"/>
          </a:xfrm>
          <a:prstGeom prst="rect">
            <a:avLst/>
          </a:prstGeom>
          <a:solidFill>
            <a:srgbClr val="35C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6217920"/>
            <a:ext cx="11064240" cy="9144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291072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97380"/>
                </a:solidFill>
                <a:latin typeface="Aptos"/>
              </a:rPr>
              <a:t>Responsible: Sadim Rahman Badhan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27278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82D4A"/>
                </a:solidFill>
                <a:latin typeface="Aptos"/>
              </a:rPr>
              <a:t>6</a:t>
            </a: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247921FB-89A1-A428-A35D-F5D8240C67E1}"/>
              </a:ext>
            </a:extLst>
          </p:cNvPr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BD4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3" name="TextBox 8">
            <a:extLst>
              <a:ext uri="{FF2B5EF4-FFF2-40B4-BE49-F238E27FC236}">
                <a16:creationId xmlns:a16="http://schemas.microsoft.com/office/drawing/2014/main" id="{1963DF5F-476B-E77B-C097-E3ED10CCB68F}"/>
              </a:ext>
            </a:extLst>
          </p:cNvPr>
          <p:cNvGraphicFramePr/>
          <p:nvPr/>
        </p:nvGraphicFramePr>
        <p:xfrm>
          <a:off x="731520" y="1298448"/>
          <a:ext cx="8412479" cy="32694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82D4A"/>
                </a:solidFill>
                <a:latin typeface="Aptos"/>
              </a:rPr>
              <a:t>Encryption and Secure Protocols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965960" cy="27432"/>
          </a:xfrm>
          <a:prstGeom prst="rect">
            <a:avLst/>
          </a:prstGeom>
          <a:solidFill>
            <a:srgbClr val="35C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6217920"/>
            <a:ext cx="11064240" cy="9144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291072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97380"/>
                </a:solidFill>
                <a:latin typeface="Aptos"/>
              </a:rPr>
              <a:t>Responsible: Sadim Rahman Badhan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27278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82D4A"/>
                </a:solidFill>
                <a:latin typeface="Aptos"/>
              </a:rPr>
              <a:t>7</a:t>
            </a: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99F09039-4393-657E-9BA3-58173324545D}"/>
              </a:ext>
            </a:extLst>
          </p:cNvPr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BD4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extBox 8">
            <a:extLst>
              <a:ext uri="{FF2B5EF4-FFF2-40B4-BE49-F238E27FC236}">
                <a16:creationId xmlns:a16="http://schemas.microsoft.com/office/drawing/2014/main" id="{080A7FD6-F758-A84F-D6CA-FF399147EA6F}"/>
              </a:ext>
            </a:extLst>
          </p:cNvPr>
          <p:cNvGraphicFramePr/>
          <p:nvPr/>
        </p:nvGraphicFramePr>
        <p:xfrm>
          <a:off x="731520" y="1362457"/>
          <a:ext cx="8412479" cy="38927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55382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400" b="1" noProof="0" dirty="0">
                <a:solidFill>
                  <a:srgbClr val="182D4A"/>
                </a:solidFill>
                <a:latin typeface="Aptos"/>
              </a:rPr>
              <a:t>IEC 62443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965960" cy="27432"/>
          </a:xfrm>
          <a:prstGeom prst="rect">
            <a:avLst/>
          </a:prstGeom>
          <a:solidFill>
            <a:srgbClr val="35C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4"/>
          <p:cNvSpPr/>
          <p:nvPr/>
        </p:nvSpPr>
        <p:spPr>
          <a:xfrm>
            <a:off x="548640" y="6217920"/>
            <a:ext cx="11064240" cy="9144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594360" y="6291072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1100" noProof="0" dirty="0">
                <a:solidFill>
                  <a:srgbClr val="697380"/>
                </a:solidFill>
                <a:latin typeface="Aptos"/>
              </a:rPr>
              <a:t>Responsible: Andrey Sysoev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27278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300" b="1" noProof="0" dirty="0">
                <a:solidFill>
                  <a:srgbClr val="182D4A"/>
                </a:solidFill>
                <a:latin typeface="Aptos"/>
              </a:rPr>
              <a:t>8</a:t>
            </a: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291DD760-E95C-6FF0-F68E-BA0DB2B4FA20}"/>
              </a:ext>
            </a:extLst>
          </p:cNvPr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BD4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94E7AF-FA34-19CD-71A3-0910F72D6E46}"/>
              </a:ext>
            </a:extLst>
          </p:cNvPr>
          <p:cNvSpPr txBox="1"/>
          <p:nvPr/>
        </p:nvSpPr>
        <p:spPr>
          <a:xfrm>
            <a:off x="594360" y="1343053"/>
            <a:ext cx="570875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noProof="0" dirty="0"/>
              <a:t>Standard for securing Industrial Automation and Control Systems (IACS)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937823-AB24-C841-8A7F-80250ED6672C}"/>
              </a:ext>
            </a:extLst>
          </p:cNvPr>
          <p:cNvSpPr txBox="1"/>
          <p:nvPr/>
        </p:nvSpPr>
        <p:spPr>
          <a:xfrm>
            <a:off x="548640" y="2613392"/>
            <a:ext cx="609819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noProof="0" dirty="0"/>
              <a:t>identify the System under Consideration (</a:t>
            </a:r>
            <a:r>
              <a:rPr lang="en-US" sz="2000" noProof="0" dirty="0" err="1"/>
              <a:t>SuC</a:t>
            </a:r>
            <a:r>
              <a:rPr lang="en-US" sz="2000" noProof="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noProof="0" dirty="0"/>
              <a:t>perform cybersecurity risk assessment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noProof="0" dirty="0"/>
              <a:t>divide the system into zones and conduits</a:t>
            </a:r>
          </a:p>
        </p:txBody>
      </p:sp>
      <p:pic>
        <p:nvPicPr>
          <p:cNvPr id="12" name="Рисунок 11" descr="Umsetzung der IEC 62443 als Betreiber - neun Schritte zur sicheren Anlage">
            <a:extLst>
              <a:ext uri="{FF2B5EF4-FFF2-40B4-BE49-F238E27FC236}">
                <a16:creationId xmlns:a16="http://schemas.microsoft.com/office/drawing/2014/main" id="{24831E4F-C76C-D8EC-0F0C-3E1755817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111" y="502920"/>
            <a:ext cx="4933001" cy="49400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DDB5E4C-CE34-5CD4-2BF0-E6AC77BF83AD}"/>
              </a:ext>
            </a:extLst>
          </p:cNvPr>
          <p:cNvSpPr txBox="1"/>
          <p:nvPr/>
        </p:nvSpPr>
        <p:spPr>
          <a:xfrm>
            <a:off x="6446426" y="5189823"/>
            <a:ext cx="3039363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noProof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Image source: Phoenixcontact - die Norm für </a:t>
            </a:r>
            <a:r>
              <a:rPr lang="en-US" sz="700" noProof="0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industrielle</a:t>
            </a:r>
            <a:r>
              <a:rPr lang="en-US" sz="700" noProof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Cyber Security</a:t>
            </a:r>
            <a:endParaRPr lang="en-US" sz="700" noProof="0" dirty="0"/>
          </a:p>
          <a:p>
            <a:br>
              <a:rPr lang="en-US" noProof="0" dirty="0"/>
            </a:br>
            <a:endParaRPr lang="en-US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4F71BD-2D53-CC1D-E863-21A43AA8D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5C2231-EB50-F7A1-D477-81D121712658}"/>
              </a:ext>
            </a:extLst>
          </p:cNvPr>
          <p:cNvSpPr txBox="1"/>
          <p:nvPr/>
        </p:nvSpPr>
        <p:spPr>
          <a:xfrm>
            <a:off x="731520" y="502920"/>
            <a:ext cx="30844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noProof="0" dirty="0">
                <a:solidFill>
                  <a:srgbClr val="182D4A"/>
                </a:solidFill>
                <a:latin typeface="Aptos"/>
              </a:rPr>
              <a:t>Cyber Resilience Act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21F597-329B-5E1A-7235-4959790F0D57}"/>
              </a:ext>
            </a:extLst>
          </p:cNvPr>
          <p:cNvSpPr/>
          <p:nvPr/>
        </p:nvSpPr>
        <p:spPr>
          <a:xfrm>
            <a:off x="731520" y="1170432"/>
            <a:ext cx="1965960" cy="27432"/>
          </a:xfrm>
          <a:prstGeom prst="rect">
            <a:avLst/>
          </a:prstGeom>
          <a:solidFill>
            <a:srgbClr val="35C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84C109-62BE-3F4C-5A73-F98616917452}"/>
              </a:ext>
            </a:extLst>
          </p:cNvPr>
          <p:cNvSpPr/>
          <p:nvPr/>
        </p:nvSpPr>
        <p:spPr>
          <a:xfrm>
            <a:off x="548640" y="6217920"/>
            <a:ext cx="11064240" cy="9144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D1229C-51CC-B53F-9878-EDDF0F007EE8}"/>
              </a:ext>
            </a:extLst>
          </p:cNvPr>
          <p:cNvSpPr txBox="1"/>
          <p:nvPr/>
        </p:nvSpPr>
        <p:spPr>
          <a:xfrm>
            <a:off x="594360" y="6291072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1100" noProof="0" dirty="0">
                <a:solidFill>
                  <a:srgbClr val="697380"/>
                </a:solidFill>
                <a:latin typeface="Aptos"/>
              </a:rPr>
              <a:t>Responsible: Andrey Sysoev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CD5695-0E7C-3298-9F77-3D3296763B1A}"/>
              </a:ext>
            </a:extLst>
          </p:cNvPr>
          <p:cNvSpPr txBox="1"/>
          <p:nvPr/>
        </p:nvSpPr>
        <p:spPr>
          <a:xfrm>
            <a:off x="11247006" y="6272784"/>
            <a:ext cx="27443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300" b="1" noProof="0" dirty="0">
                <a:solidFill>
                  <a:srgbClr val="182D4A"/>
                </a:solidFill>
                <a:latin typeface="Aptos"/>
              </a:rPr>
              <a:t>9</a:t>
            </a: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EB79BDED-027B-085E-20A0-CD2B8300ACD1}"/>
              </a:ext>
            </a:extLst>
          </p:cNvPr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BD4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9402F2-669B-B946-6121-BB49CD0D1DA1}"/>
              </a:ext>
            </a:extLst>
          </p:cNvPr>
          <p:cNvSpPr txBox="1"/>
          <p:nvPr/>
        </p:nvSpPr>
        <p:spPr>
          <a:xfrm>
            <a:off x="601267" y="1316387"/>
            <a:ext cx="41924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noProof="0" dirty="0">
                <a:latin typeface="Aptos" panose="020B0004020202020204" pitchFamily="34" charset="0"/>
              </a:rPr>
              <a:t>European regulation for products with digital elements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4872C6-29B1-E6DC-D405-D43F7E09F1EE}"/>
              </a:ext>
            </a:extLst>
          </p:cNvPr>
          <p:cNvSpPr txBox="1"/>
          <p:nvPr/>
        </p:nvSpPr>
        <p:spPr>
          <a:xfrm>
            <a:off x="5954243" y="2305615"/>
            <a:ext cx="609819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noProof="0" dirty="0">
                <a:latin typeface="Aptos" panose="020B0004020202020204" pitchFamily="34" charset="0"/>
              </a:rPr>
              <a:t>secure design and development</a:t>
            </a:r>
            <a:br>
              <a:rPr lang="en-US" sz="2000" noProof="0" dirty="0">
                <a:latin typeface="Aptos" panose="020B0004020202020204" pitchFamily="34" charset="0"/>
              </a:rPr>
            </a:br>
            <a:endParaRPr lang="en-US" sz="2000" noProof="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noProof="0" dirty="0">
                <a:latin typeface="Aptos" panose="020B0004020202020204" pitchFamily="34" charset="0"/>
              </a:rPr>
              <a:t>vulnerability handling</a:t>
            </a:r>
            <a:br>
              <a:rPr lang="en-US" sz="2000" noProof="0" dirty="0">
                <a:latin typeface="Aptos" panose="020B0004020202020204" pitchFamily="34" charset="0"/>
              </a:rPr>
            </a:br>
            <a:endParaRPr lang="en-US" sz="2000" noProof="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noProof="0" dirty="0">
                <a:latin typeface="Aptos" panose="020B0004020202020204" pitchFamily="34" charset="0"/>
              </a:rPr>
              <a:t>security updates during support period</a:t>
            </a:r>
            <a:br>
              <a:rPr lang="en-US" sz="2000" noProof="0" dirty="0">
                <a:latin typeface="Aptos" panose="020B0004020202020204" pitchFamily="34" charset="0"/>
              </a:rPr>
            </a:br>
            <a:endParaRPr lang="en-US" sz="2000" noProof="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noProof="0" dirty="0">
                <a:latin typeface="Aptos" panose="020B0004020202020204" pitchFamily="34" charset="0"/>
              </a:rPr>
              <a:t>response to exploited vulnerabilities and incidents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578D47D-85DD-F46D-EB42-E9448EC62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67" y="2414323"/>
            <a:ext cx="4984979" cy="27915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3B43FCE-30A9-F734-FAD5-D9D1C38B5874}"/>
              </a:ext>
            </a:extLst>
          </p:cNvPr>
          <p:cNvSpPr txBox="1"/>
          <p:nvPr/>
        </p:nvSpPr>
        <p:spPr>
          <a:xfrm>
            <a:off x="607292" y="5096677"/>
            <a:ext cx="6099544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Image source: Triovega-new challenges in the development of connected products</a:t>
            </a:r>
            <a:endParaRPr lang="en-US" sz="1000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02234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480" y="533401"/>
            <a:ext cx="8839200" cy="364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182D4A"/>
                </a:solidFill>
                <a:latin typeface="Aptos Bold"/>
                <a:ea typeface="Aptos Bold"/>
                <a:cs typeface="Aptos Bold"/>
                <a:sym typeface="Aptos Bold"/>
              </a:rPr>
              <a:t>PROFINET Security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31520" y="1170432"/>
            <a:ext cx="1965960" cy="27432"/>
            <a:chOff x="0" y="0"/>
            <a:chExt cx="3931920" cy="548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31920" cy="54864"/>
            </a:xfrm>
            <a:custGeom>
              <a:avLst/>
              <a:gdLst/>
              <a:ahLst/>
              <a:cxnLst/>
              <a:rect l="l" t="t" r="r" b="b"/>
              <a:pathLst>
                <a:path w="3931920" h="54864">
                  <a:moveTo>
                    <a:pt x="0" y="0"/>
                  </a:moveTo>
                  <a:lnTo>
                    <a:pt x="3931920" y="0"/>
                  </a:lnTo>
                  <a:lnTo>
                    <a:pt x="3931920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35C8C2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48640" y="6217920"/>
            <a:ext cx="11064240" cy="9144"/>
            <a:chOff x="0" y="0"/>
            <a:chExt cx="22128480" cy="182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28480" cy="18288"/>
            </a:xfrm>
            <a:custGeom>
              <a:avLst/>
              <a:gdLst/>
              <a:ahLst/>
              <a:cxnLst/>
              <a:rect l="l" t="t" r="r" b="b"/>
              <a:pathLst>
                <a:path w="22128480" h="18288">
                  <a:moveTo>
                    <a:pt x="0" y="0"/>
                  </a:moveTo>
                  <a:lnTo>
                    <a:pt x="22128480" y="0"/>
                  </a:lnTo>
                  <a:lnTo>
                    <a:pt x="2212848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E2E7ED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-6350" y="-6350"/>
            <a:ext cx="232156" cy="6870700"/>
            <a:chOff x="0" y="0"/>
            <a:chExt cx="464312" cy="13741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4312" cy="13741400"/>
            </a:xfrm>
            <a:custGeom>
              <a:avLst/>
              <a:gdLst/>
              <a:ahLst/>
              <a:cxnLst/>
              <a:rect l="l" t="t" r="r" b="b"/>
              <a:pathLst>
                <a:path w="464312" h="13741400">
                  <a:moveTo>
                    <a:pt x="0" y="0"/>
                  </a:moveTo>
                  <a:lnTo>
                    <a:pt x="464312" y="0"/>
                  </a:lnTo>
                  <a:lnTo>
                    <a:pt x="464312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2BD4C7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6854111" y="961372"/>
            <a:ext cx="4839699" cy="3432960"/>
          </a:xfrm>
          <a:custGeom>
            <a:avLst/>
            <a:gdLst/>
            <a:ahLst/>
            <a:cxnLst/>
            <a:rect l="l" t="t" r="r" b="b"/>
            <a:pathLst>
              <a:path w="7259549" h="5149440">
                <a:moveTo>
                  <a:pt x="0" y="0"/>
                </a:moveTo>
                <a:lnTo>
                  <a:pt x="7259549" y="0"/>
                </a:lnTo>
                <a:lnTo>
                  <a:pt x="7259549" y="5149440"/>
                </a:lnTo>
                <a:lnTo>
                  <a:pt x="0" y="5149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48640" y="6214872"/>
            <a:ext cx="7924800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97380"/>
                </a:solidFill>
                <a:latin typeface="Aptos"/>
                <a:ea typeface="Aptos"/>
                <a:cs typeface="Aptos"/>
                <a:sym typeface="Aptos"/>
              </a:rPr>
              <a:t>Responsible: Md Mamun Hossain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33760" y="6303264"/>
            <a:ext cx="426720" cy="200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300" b="1">
                <a:solidFill>
                  <a:srgbClr val="182D4A"/>
                </a:solidFill>
                <a:latin typeface="Aptos Bold"/>
                <a:ea typeface="Aptos Bold"/>
                <a:cs typeface="Aptos Bold"/>
                <a:sym typeface="Aptos Bold"/>
              </a:rPr>
              <a:t>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3641" y="1543654"/>
            <a:ext cx="5084921" cy="1124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Security Challenges:</a:t>
            </a:r>
          </a:p>
          <a:p>
            <a:pPr marL="287879" lvl="1" indent="-143940">
              <a:lnSpc>
                <a:spcPts val="1599"/>
              </a:lnSpc>
              <a:buFont typeface="Arial"/>
              <a:buChar char="•"/>
            </a:pPr>
            <a:r>
              <a:rPr lang="en-US" sz="1333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Limited built-in security</a:t>
            </a:r>
          </a:p>
          <a:p>
            <a:pPr marL="287879" lvl="1" indent="-143940">
              <a:lnSpc>
                <a:spcPts val="1599"/>
              </a:lnSpc>
              <a:buFont typeface="Arial"/>
              <a:buChar char="•"/>
            </a:pPr>
            <a:r>
              <a:rPr lang="en-US" sz="1333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Vulnerable to eavesdropping, DoS etc.</a:t>
            </a:r>
          </a:p>
          <a:p>
            <a:pPr marL="287879" lvl="1" indent="-143940">
              <a:lnSpc>
                <a:spcPts val="1599"/>
              </a:lnSpc>
              <a:buFont typeface="Arial"/>
              <a:buChar char="•"/>
            </a:pPr>
            <a:r>
              <a:rPr lang="en-US" sz="1333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Connectivity to IT networks expands attack surface</a:t>
            </a:r>
          </a:p>
          <a:p>
            <a:pPr>
              <a:lnSpc>
                <a:spcPts val="1599"/>
              </a:lnSpc>
            </a:pPr>
            <a:endParaRPr lang="en-US" sz="1333" b="1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73641" y="4394332"/>
            <a:ext cx="4101068" cy="994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Security Classes:</a:t>
            </a:r>
          </a:p>
          <a:p>
            <a:pPr marL="316674" lvl="1" indent="-158337">
              <a:lnSpc>
                <a:spcPts val="1760"/>
              </a:lnSpc>
              <a:buFont typeface="Arial"/>
              <a:buChar char="•"/>
            </a:pPr>
            <a:r>
              <a:rPr lang="en-US" sz="1467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Class 1: Improved configuration (SNMP, DCP)</a:t>
            </a:r>
          </a:p>
          <a:p>
            <a:pPr marL="316674" lvl="1" indent="-158337">
              <a:lnSpc>
                <a:spcPts val="1760"/>
              </a:lnSpc>
              <a:buFont typeface="Arial"/>
              <a:buChar char="•"/>
            </a:pPr>
            <a:r>
              <a:rPr lang="en-US" sz="1467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Class 2 : cryptographic protection</a:t>
            </a:r>
          </a:p>
          <a:p>
            <a:pPr marL="316674" lvl="1" indent="-158337">
              <a:lnSpc>
                <a:spcPts val="1760"/>
              </a:lnSpc>
              <a:buFont typeface="Arial"/>
              <a:buChar char="•"/>
            </a:pPr>
            <a:r>
              <a:rPr lang="en-US" sz="1467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Class 3: Full encryption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3641" y="2985105"/>
            <a:ext cx="3516233" cy="1495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20"/>
              </a:lnSpc>
            </a:pPr>
            <a:r>
              <a:rPr lang="en-US" sz="1933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Security Mechanisms:</a:t>
            </a:r>
          </a:p>
          <a:p>
            <a:pPr marL="302280" lvl="1" indent="-151140" algn="just">
              <a:lnSpc>
                <a:spcPts val="1680"/>
              </a:lnSpc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Encryption &amp; authentication</a:t>
            </a:r>
          </a:p>
          <a:p>
            <a:pPr marL="302280" lvl="1" indent="-151140" algn="just">
              <a:lnSpc>
                <a:spcPts val="1680"/>
              </a:lnSpc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Secure Application Relations (ARs)</a:t>
            </a:r>
          </a:p>
          <a:p>
            <a:pPr marL="302280" lvl="1" indent="-151140" algn="just">
              <a:lnSpc>
                <a:spcPts val="1680"/>
              </a:lnSpc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Certificate-based device authentication</a:t>
            </a:r>
          </a:p>
          <a:p>
            <a:pPr algn="just">
              <a:lnSpc>
                <a:spcPts val="2880"/>
              </a:lnSpc>
              <a:spcBef>
                <a:spcPct val="0"/>
              </a:spcBef>
            </a:pPr>
            <a:endParaRPr lang="en-US" sz="1400" b="1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854111" y="4950715"/>
            <a:ext cx="4393009" cy="1495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20"/>
              </a:lnSpc>
            </a:pPr>
            <a:r>
              <a:rPr lang="en-US" sz="1933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Best Practices:</a:t>
            </a:r>
          </a:p>
          <a:p>
            <a:pPr marL="302280" lvl="1" indent="-151140">
              <a:lnSpc>
                <a:spcPts val="1680"/>
              </a:lnSpc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Defense-in-Depth approach (IEC 62443)</a:t>
            </a:r>
          </a:p>
          <a:p>
            <a:pPr marL="302280" lvl="1" indent="-151140">
              <a:lnSpc>
                <a:spcPts val="1680"/>
              </a:lnSpc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Network segmentation, access control, monitoring</a:t>
            </a:r>
          </a:p>
          <a:p>
            <a:pPr marL="302280" lvl="1" indent="-151140">
              <a:lnSpc>
                <a:spcPts val="1680"/>
              </a:lnSpc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Secure device identity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  <a:endParaRPr lang="en-US" sz="1400" b="1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113488" y="4555048"/>
            <a:ext cx="518192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0"/>
              </a:lnSpc>
              <a:spcBef>
                <a:spcPct val="0"/>
              </a:spcBef>
            </a:pPr>
            <a:r>
              <a:rPr lang="en-US" sz="153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[3]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CNS – CNS - Cryptography and Network Security – TU Darmstadt">
            <a:extLst>
              <a:ext uri="{FF2B5EF4-FFF2-40B4-BE49-F238E27FC236}">
                <a16:creationId xmlns:a16="http://schemas.microsoft.com/office/drawing/2014/main" id="{3BB1A82F-BA0C-A526-4960-5D7F34FC688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219456" y="1252728"/>
            <a:ext cx="11972544" cy="491947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1520" y="50292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400" b="1" noProof="0" dirty="0">
                <a:solidFill>
                  <a:srgbClr val="182D4A"/>
                </a:solidFill>
                <a:latin typeface="Aptos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965960" cy="27432"/>
          </a:xfrm>
          <a:prstGeom prst="rect">
            <a:avLst/>
          </a:prstGeom>
          <a:solidFill>
            <a:srgbClr val="35C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4"/>
          <p:cNvSpPr/>
          <p:nvPr/>
        </p:nvSpPr>
        <p:spPr>
          <a:xfrm>
            <a:off x="548640" y="6217920"/>
            <a:ext cx="11064240" cy="9144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594360" y="6291072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1100" noProof="0" dirty="0">
                <a:solidFill>
                  <a:srgbClr val="697380"/>
                </a:solidFill>
                <a:latin typeface="Aptos"/>
              </a:rPr>
              <a:t>Responsible: Andrey Sysoev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7237" y="6272784"/>
            <a:ext cx="36420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300" b="1" noProof="0" dirty="0">
                <a:solidFill>
                  <a:srgbClr val="182D4A"/>
                </a:solidFill>
                <a:latin typeface="Aptos"/>
              </a:rPr>
              <a:t>11</a:t>
            </a: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367C059F-E792-8E7F-851D-856938CB58B4}"/>
              </a:ext>
            </a:extLst>
          </p:cNvPr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BD4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86AF17C-ACAB-B787-842A-11B6DD868569}"/>
              </a:ext>
            </a:extLst>
          </p:cNvPr>
          <p:cNvSpPr/>
          <p:nvPr/>
        </p:nvSpPr>
        <p:spPr>
          <a:xfrm>
            <a:off x="1442484" y="2752415"/>
            <a:ext cx="1783080" cy="0"/>
          </a:xfrm>
          <a:prstGeom prst="line">
            <a:avLst/>
          </a:prstGeom>
          <a:noFill/>
          <a:ln w="38100">
            <a:solidFill>
              <a:srgbClr val="2F80B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9437EEC-B985-9911-8033-7A3AA3F97550}"/>
              </a:ext>
            </a:extLst>
          </p:cNvPr>
          <p:cNvSpPr/>
          <p:nvPr/>
        </p:nvSpPr>
        <p:spPr>
          <a:xfrm>
            <a:off x="5420620" y="2752415"/>
            <a:ext cx="1783080" cy="0"/>
          </a:xfrm>
          <a:prstGeom prst="line">
            <a:avLst/>
          </a:prstGeom>
          <a:noFill/>
          <a:ln w="38100">
            <a:solidFill>
              <a:srgbClr val="14A6A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59145B74-3EDB-D8D7-D2CA-806C4A85B2C3}"/>
              </a:ext>
            </a:extLst>
          </p:cNvPr>
          <p:cNvSpPr/>
          <p:nvPr/>
        </p:nvSpPr>
        <p:spPr>
          <a:xfrm>
            <a:off x="9238985" y="2748162"/>
            <a:ext cx="1783080" cy="0"/>
          </a:xfrm>
          <a:prstGeom prst="line">
            <a:avLst/>
          </a:prstGeom>
          <a:noFill/>
          <a:ln w="38100">
            <a:solidFill>
              <a:srgbClr val="2AA87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F5F79F-E258-78F7-5FDE-0137B4876C27}"/>
              </a:ext>
            </a:extLst>
          </p:cNvPr>
          <p:cNvSpPr txBox="1"/>
          <p:nvPr/>
        </p:nvSpPr>
        <p:spPr>
          <a:xfrm>
            <a:off x="3133060" y="1298448"/>
            <a:ext cx="65843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noProof="0" dirty="0">
                <a:latin typeface="Aptos" panose="020B0004020202020204" pitchFamily="34" charset="0"/>
              </a:rPr>
              <a:t>Industrial network security is a continuous process of design, protection, and maintenance.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044D92-1727-8236-D61E-22810DF4F502}"/>
              </a:ext>
            </a:extLst>
          </p:cNvPr>
          <p:cNvSpPr txBox="1"/>
          <p:nvPr/>
        </p:nvSpPr>
        <p:spPr>
          <a:xfrm>
            <a:off x="1689300" y="2290750"/>
            <a:ext cx="609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noProof="0" dirty="0">
                <a:solidFill>
                  <a:schemeClr val="accent1"/>
                </a:solidFill>
              </a:rPr>
              <a:t>Design</a:t>
            </a:r>
            <a:endParaRPr lang="en-US" noProof="0" dirty="0">
              <a:solidFill>
                <a:schemeClr val="accent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A65DAD-4337-7A9D-9A8C-911A6B2E7204}"/>
              </a:ext>
            </a:extLst>
          </p:cNvPr>
          <p:cNvSpPr txBox="1"/>
          <p:nvPr/>
        </p:nvSpPr>
        <p:spPr>
          <a:xfrm>
            <a:off x="5710880" y="2287359"/>
            <a:ext cx="609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noProof="0" dirty="0">
                <a:solidFill>
                  <a:srgbClr val="14A6A6"/>
                </a:solidFill>
              </a:rPr>
              <a:t>Protect</a:t>
            </a:r>
            <a:endParaRPr lang="en-US" noProof="0" dirty="0">
              <a:solidFill>
                <a:srgbClr val="14A6A6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A17A26-B8B6-0D56-894C-A4823D230146}"/>
              </a:ext>
            </a:extLst>
          </p:cNvPr>
          <p:cNvSpPr txBox="1"/>
          <p:nvPr/>
        </p:nvSpPr>
        <p:spPr>
          <a:xfrm>
            <a:off x="9434800" y="2286497"/>
            <a:ext cx="609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noProof="0" dirty="0">
                <a:solidFill>
                  <a:srgbClr val="2AA876"/>
                </a:solidFill>
              </a:rPr>
              <a:t>Maintain</a:t>
            </a:r>
            <a:endParaRPr lang="en-US" noProof="0" dirty="0">
              <a:solidFill>
                <a:srgbClr val="2AA876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BBFF01-E415-D1E5-257B-33FA4DC7A460}"/>
              </a:ext>
            </a:extLst>
          </p:cNvPr>
          <p:cNvSpPr txBox="1"/>
          <p:nvPr/>
        </p:nvSpPr>
        <p:spPr>
          <a:xfrm>
            <a:off x="1246579" y="2807279"/>
            <a:ext cx="236104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noProof="0" dirty="0"/>
              <a:t>Risk-based design</a:t>
            </a:r>
            <a:br>
              <a:rPr lang="en-US" sz="2000" noProof="0" dirty="0"/>
            </a:br>
            <a:endParaRPr lang="en-US" sz="2000" noProof="0" dirty="0"/>
          </a:p>
          <a:p>
            <a:r>
              <a:rPr lang="en-US" sz="2000" noProof="0" dirty="0"/>
              <a:t>Zones and conduits</a:t>
            </a:r>
            <a:br>
              <a:rPr lang="en-US" sz="2000" noProof="0" dirty="0"/>
            </a:br>
            <a:endParaRPr lang="en-US" sz="2000" noProof="0" dirty="0"/>
          </a:p>
          <a:p>
            <a:r>
              <a:rPr lang="en-US" sz="2000" noProof="0" dirty="0"/>
              <a:t>IEC 62443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529F9E-78B3-D45D-478B-436CDF50E5A6}"/>
              </a:ext>
            </a:extLst>
          </p:cNvPr>
          <p:cNvSpPr txBox="1"/>
          <p:nvPr/>
        </p:nvSpPr>
        <p:spPr>
          <a:xfrm>
            <a:off x="5296964" y="2811994"/>
            <a:ext cx="77688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noProof="0" dirty="0"/>
              <a:t>Segmentation</a:t>
            </a:r>
            <a:br>
              <a:rPr lang="en-US" sz="2000" noProof="0" dirty="0"/>
            </a:br>
            <a:endParaRPr lang="en-US" sz="2000" noProof="0" dirty="0"/>
          </a:p>
          <a:p>
            <a:r>
              <a:rPr lang="en-US" sz="2000" noProof="0" dirty="0"/>
              <a:t>Encryption</a:t>
            </a:r>
            <a:br>
              <a:rPr lang="en-US" sz="2000" noProof="0" dirty="0"/>
            </a:br>
            <a:endParaRPr lang="en-US" sz="2000" noProof="0" dirty="0"/>
          </a:p>
          <a:p>
            <a:r>
              <a:rPr lang="en-US" sz="2000" noProof="0" dirty="0"/>
              <a:t>Secure protocols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625043-B6D4-6E1E-CBFF-3D4D19F45DC6}"/>
              </a:ext>
            </a:extLst>
          </p:cNvPr>
          <p:cNvSpPr txBox="1"/>
          <p:nvPr/>
        </p:nvSpPr>
        <p:spPr>
          <a:xfrm>
            <a:off x="8990290" y="2811132"/>
            <a:ext cx="77688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noProof="0" dirty="0"/>
              <a:t>Patch management</a:t>
            </a:r>
          </a:p>
          <a:p>
            <a:br>
              <a:rPr lang="en-US" sz="2000" noProof="0" dirty="0"/>
            </a:br>
            <a:r>
              <a:rPr lang="en-US" sz="2000" noProof="0" dirty="0"/>
              <a:t>Vulnerability handling</a:t>
            </a:r>
          </a:p>
          <a:p>
            <a:br>
              <a:rPr lang="en-US" sz="2000" noProof="0" dirty="0"/>
            </a:br>
            <a:r>
              <a:rPr lang="en-US" sz="2000" noProof="0" dirty="0"/>
              <a:t>Continuous monitoring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3AC2BF-2331-E16D-22B7-914B8A6C5106}"/>
              </a:ext>
            </a:extLst>
          </p:cNvPr>
          <p:cNvSpPr txBox="1"/>
          <p:nvPr/>
        </p:nvSpPr>
        <p:spPr>
          <a:xfrm>
            <a:off x="8220456" y="5968850"/>
            <a:ext cx="8382000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Image source: </a:t>
            </a:r>
            <a:r>
              <a:rPr lang="ru-RU" sz="105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</a:t>
            </a:r>
            <a:r>
              <a:rPr lang="ru-RU" sz="1050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Cryptography</a:t>
            </a:r>
            <a:r>
              <a:rPr lang="ru-RU" sz="105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and Network Security – TU </a:t>
            </a:r>
            <a:r>
              <a:rPr lang="ru-RU" sz="1050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Darmstadt</a:t>
            </a:r>
            <a:endParaRPr lang="ru-RU" sz="1050" dirty="0"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1489A7-7B96-F41D-40CC-2838B6069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01D094-C4AB-2AD1-B86B-8A9D38431685}"/>
              </a:ext>
            </a:extLst>
          </p:cNvPr>
          <p:cNvSpPr txBox="1"/>
          <p:nvPr/>
        </p:nvSpPr>
        <p:spPr>
          <a:xfrm>
            <a:off x="731520" y="502920"/>
            <a:ext cx="344228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noProof="0" dirty="0">
                <a:solidFill>
                  <a:srgbClr val="182D4A"/>
                </a:solidFill>
                <a:latin typeface="Aptos"/>
              </a:rPr>
              <a:t>Image and Text Sources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D2DD61-587B-BD0D-828B-AFE8D27728BE}"/>
              </a:ext>
            </a:extLst>
          </p:cNvPr>
          <p:cNvSpPr/>
          <p:nvPr/>
        </p:nvSpPr>
        <p:spPr>
          <a:xfrm>
            <a:off x="731520" y="1170432"/>
            <a:ext cx="1965960" cy="27432"/>
          </a:xfrm>
          <a:prstGeom prst="rect">
            <a:avLst/>
          </a:prstGeom>
          <a:solidFill>
            <a:srgbClr val="35C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ECCBB4-0364-2CE7-B14D-864A69E635AE}"/>
              </a:ext>
            </a:extLst>
          </p:cNvPr>
          <p:cNvSpPr/>
          <p:nvPr/>
        </p:nvSpPr>
        <p:spPr>
          <a:xfrm>
            <a:off x="548640" y="6217920"/>
            <a:ext cx="11064240" cy="9144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0201D3-C786-2175-2BC1-21FB13BBCAED}"/>
              </a:ext>
            </a:extLst>
          </p:cNvPr>
          <p:cNvSpPr txBox="1"/>
          <p:nvPr/>
        </p:nvSpPr>
        <p:spPr>
          <a:xfrm>
            <a:off x="594360" y="6291072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1100" noProof="0" dirty="0">
                <a:solidFill>
                  <a:srgbClr val="697380"/>
                </a:solidFill>
                <a:latin typeface="Aptos"/>
              </a:rPr>
              <a:t>Responsible: Andrey Sysoev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88ED8-9399-70A4-BA1F-4DF475D4112C}"/>
              </a:ext>
            </a:extLst>
          </p:cNvPr>
          <p:cNvSpPr txBox="1"/>
          <p:nvPr/>
        </p:nvSpPr>
        <p:spPr>
          <a:xfrm>
            <a:off x="11157237" y="6272784"/>
            <a:ext cx="36420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300" b="1" noProof="0" dirty="0">
                <a:solidFill>
                  <a:srgbClr val="182D4A"/>
                </a:solidFill>
                <a:latin typeface="Aptos"/>
              </a:rPr>
              <a:t>12</a:t>
            </a: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6C0FF91D-640D-9483-EBBE-D6A9415A575F}"/>
              </a:ext>
            </a:extLst>
          </p:cNvPr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BD4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3AF4DE-2390-25BD-9257-1C9D1E23EB41}"/>
              </a:ext>
            </a:extLst>
          </p:cNvPr>
          <p:cNvSpPr txBox="1"/>
          <p:nvPr/>
        </p:nvSpPr>
        <p:spPr>
          <a:xfrm>
            <a:off x="469227" y="3821165"/>
            <a:ext cx="7744921" cy="2469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050" noProof="0" dirty="0"/>
              <a:t>K. Stouffer et al., “Guide to Operational Technology (OT) Security,” NIST SP 800-82 Rev. 3, 2023.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50" noProof="0" dirty="0"/>
              <a:t>T. Cruz et al., “Improving Network Security Monitoring for Industrial Control Systems,” IFIP/IEEE IM, 2015.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50" noProof="0" dirty="0"/>
              <a:t>M. Conti, N. </a:t>
            </a:r>
            <a:r>
              <a:rPr lang="en-US" sz="1050" noProof="0" dirty="0" err="1"/>
              <a:t>Dragoni</a:t>
            </a:r>
            <a:r>
              <a:rPr lang="en-US" sz="1050" noProof="0" dirty="0"/>
              <a:t>, and V. </a:t>
            </a:r>
            <a:r>
              <a:rPr lang="en-US" sz="1050" noProof="0" dirty="0" err="1"/>
              <a:t>Lesyk</a:t>
            </a:r>
            <a:r>
              <a:rPr lang="en-US" sz="1050" noProof="0" dirty="0"/>
              <a:t>, “A Survey of Man in the Middle Attacks,” IEEE Communications Surveys &amp; Tutorials, 2016.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50" noProof="0" dirty="0"/>
              <a:t>Z. T. </a:t>
            </a:r>
            <a:r>
              <a:rPr lang="en-US" sz="1050" noProof="0" dirty="0" err="1"/>
              <a:t>Almulla</a:t>
            </a:r>
            <a:r>
              <a:rPr lang="en-US" sz="1050" noProof="0" dirty="0"/>
              <a:t> and H. Rahman, “The Role of Network Segmentation and Micro-Segmentation in Operational Technology Security,” ICAIIC, 2025.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50" noProof="0" dirty="0"/>
              <a:t>S. Khan et al., “A Comprehensive Review on Lightweight Cryptographic Mechanisms for Industrial Internet of Things Systems,” ACM Computing Surveys, 2025.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50" noProof="0" dirty="0"/>
              <a:t>M. Kern et al., “An Architecture-Based Modeling Approach Using Data Flows for Zone Concepts in Industry 4.0,” IEEE ISSE, 2020.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50" noProof="0" dirty="0"/>
              <a:t>G. B. Gaggero et al., “An IEC 62443-Based Framework for Secure-by-Design Energy Communities,” IEEE Access, 2024.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50" noProof="0" dirty="0"/>
              <a:t>European Commission, “Cyber Resilience Act,” Shaping Europe’s Digital Future.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50" noProof="0" dirty="0"/>
              <a:t>J. Akerberg and M. Bjorkman, “Exploring Security in PROFINET IO,” IEEE COMPSAC, 2009.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50" noProof="0" dirty="0"/>
              <a:t>A. Walz et al., “PROFINET Security: A Look on Selected Concepts for Secure Communication in the Automation Domain,” IEEE INDIN, 2023.</a:t>
            </a:r>
          </a:p>
          <a:p>
            <a:pPr marL="342900" indent="-342900">
              <a:buFont typeface="+mj-lt"/>
              <a:buAutoNum type="arabicPeriod"/>
            </a:pPr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B6AE29-CF5B-B545-AA11-63458EE2840A}"/>
              </a:ext>
            </a:extLst>
          </p:cNvPr>
          <p:cNvSpPr txBox="1"/>
          <p:nvPr/>
        </p:nvSpPr>
        <p:spPr>
          <a:xfrm>
            <a:off x="548640" y="1359556"/>
            <a:ext cx="75544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sz="1050" noProof="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https://www.rockwellautomation.com/en-gb/capabilities/industrial-cybersecurity/products-services/network-security.html</a:t>
            </a:r>
            <a:endParaRPr lang="en-US" sz="1050" noProof="0" dirty="0"/>
          </a:p>
          <a:p>
            <a:pPr marL="228600" indent="-228600">
              <a:buAutoNum type="arabicPeriod"/>
            </a:pPr>
            <a:r>
              <a:rPr lang="en-US" sz="1050" u="sng" dirty="0">
                <a:solidFill>
                  <a:srgbClr val="000000"/>
                </a:solidFill>
                <a:ea typeface="Calibri (MS)"/>
                <a:cs typeface="Calibri (MS)"/>
                <a:sym typeface="Calibri (MS)"/>
              </a:rPr>
              <a:t>https://www.researchgate.net/publication/282856952_Towards_Secure_Network_Coding-Enabled_Wireless_Sensor_Networks_in_Cyber-Physical_Systems/figures?lo=1</a:t>
            </a:r>
          </a:p>
          <a:p>
            <a:pPr marL="228600" indent="-228600">
              <a:buAutoNum type="arabicPeriod"/>
            </a:pPr>
            <a:r>
              <a:rPr lang="en-US" sz="1050" noProof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https://www.phoenixcontact.com/de-de/industrien/industrial-security/iec-62443-norm-industrielle-cyber-security</a:t>
            </a:r>
            <a:endParaRPr lang="en-US" sz="1050" noProof="0" dirty="0"/>
          </a:p>
          <a:p>
            <a:pPr marL="228600" indent="-228600">
              <a:buAutoNum type="arabicPeriod"/>
            </a:pPr>
            <a:r>
              <a:rPr lang="en-US" sz="1050" noProof="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https://triovega.com/en/blog/cyber-resilience-act-new-challenges-in-the-development-of-connected-products/</a:t>
            </a:r>
            <a:endParaRPr lang="en-US" sz="1050" noProof="0" dirty="0"/>
          </a:p>
          <a:p>
            <a:pPr marL="228600" indent="-228600">
              <a:buFontTx/>
              <a:buAutoNum type="arabicPeriod"/>
            </a:pPr>
            <a:r>
              <a:rPr lang="en-US" sz="1050" u="sng" dirty="0">
                <a:solidFill>
                  <a:srgbClr val="000000"/>
                </a:solidFill>
                <a:ea typeface="Calibri (MS)"/>
                <a:cs typeface="Calibri (MS)"/>
                <a:sym typeface="Calibri (MS)"/>
              </a:rPr>
              <a:t>https://profinews.com/wp-content/uploads/2023/01/Onion-Diagram.jpg</a:t>
            </a:r>
            <a:endParaRPr lang="en-US" sz="1050" dirty="0"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28600" indent="-228600">
              <a:buAutoNum type="arabicPeriod"/>
            </a:pPr>
            <a:r>
              <a:rPr lang="en-US" sz="105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https://www.informatik.tu-darmstadt.de/cns/</a:t>
            </a:r>
            <a:endParaRPr lang="en-US" sz="1050" dirty="0"/>
          </a:p>
          <a:p>
            <a:pPr marL="228600" indent="-228600">
              <a:buAutoNum type="arabicPeriod"/>
            </a:pPr>
            <a:endParaRPr lang="en-US" sz="1050" noProof="0" dirty="0"/>
          </a:p>
        </p:txBody>
      </p:sp>
    </p:spTree>
    <p:extLst>
      <p:ext uri="{BB962C8B-B14F-4D97-AF65-F5344CB8AC3E}">
        <p14:creationId xmlns:p14="http://schemas.microsoft.com/office/powerpoint/2010/main" val="2720945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1113</Words>
  <Application>Microsoft Office PowerPoint</Application>
  <PresentationFormat>Широкоэкранный</PresentationFormat>
  <Paragraphs>169</Paragraphs>
  <Slides>13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Aptos</vt:lpstr>
      <vt:lpstr>Aptos Bold</vt:lpstr>
      <vt:lpstr>Aptos Display</vt:lpstr>
      <vt:lpstr>Arial</vt:lpstr>
      <vt:lpstr>Calibri</vt:lpstr>
      <vt:lpstr>Calibri (MS)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Андрей Сысоев</dc:creator>
  <cp:keywords/>
  <dc:description>generated using python-pptx</dc:description>
  <cp:lastModifiedBy>Андрей Сысоев</cp:lastModifiedBy>
  <cp:revision>13</cp:revision>
  <dcterms:created xsi:type="dcterms:W3CDTF">2013-01-27T09:14:16Z</dcterms:created>
  <dcterms:modified xsi:type="dcterms:W3CDTF">2026-06-23T19:03:19Z</dcterms:modified>
  <cp:category/>
</cp:coreProperties>
</file>